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4" r:id="rId3"/>
    <p:sldId id="275" r:id="rId4"/>
    <p:sldId id="276" r:id="rId5"/>
    <p:sldId id="278" r:id="rId6"/>
    <p:sldId id="277" r:id="rId7"/>
    <p:sldId id="262" r:id="rId8"/>
    <p:sldId id="285" r:id="rId9"/>
    <p:sldId id="279" r:id="rId10"/>
    <p:sldId id="281" r:id="rId11"/>
    <p:sldId id="272" r:id="rId12"/>
    <p:sldId id="283" r:id="rId13"/>
    <p:sldId id="282" r:id="rId14"/>
    <p:sldId id="270" r:id="rId15"/>
    <p:sldId id="268" r:id="rId16"/>
    <p:sldId id="280" r:id="rId17"/>
    <p:sldId id="257" r:id="rId18"/>
    <p:sldId id="258" r:id="rId19"/>
    <p:sldId id="259" r:id="rId20"/>
    <p:sldId id="260" r:id="rId21"/>
    <p:sldId id="261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C3DA85-9752-4F4A-B8C9-3FCE746ACECB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42D8388-4B0F-45B5-B676-3B865D7DD667}">
      <dgm:prSet phldrT="[Text]" custT="1"/>
      <dgm:spPr/>
      <dgm:t>
        <a:bodyPr/>
        <a:lstStyle/>
        <a:p>
          <a:r>
            <a:rPr lang="en-US" sz="2400" b="1" dirty="0">
              <a:solidFill>
                <a:schemeClr val="bg1"/>
              </a:solidFill>
            </a:rPr>
            <a:t>After 10pm </a:t>
          </a:r>
          <a:endParaRPr lang="en-IN" sz="2400" b="1" dirty="0">
            <a:solidFill>
              <a:schemeClr val="bg1"/>
            </a:solidFill>
          </a:endParaRPr>
        </a:p>
      </dgm:t>
    </dgm:pt>
    <dgm:pt modelId="{CB1827FD-A04E-40A6-BF58-1EABB18D8C9A}" type="parTrans" cxnId="{50997078-A190-4EEC-8F34-FD5CAFCFFAD0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E3D54E6C-CDCD-44A1-8BB4-94F870AE6A66}" type="sibTrans" cxnId="{50997078-A190-4EEC-8F34-FD5CAFCFFAD0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0F704928-8960-4347-894C-B9146C8A5ACB}">
      <dgm:prSet phldrT="[Text]" custT="1"/>
      <dgm:spPr/>
      <dgm:t>
        <a:bodyPr/>
        <a:lstStyle/>
        <a:p>
          <a:r>
            <a:rPr lang="en-IN" sz="2800" b="1" i="0" dirty="0">
              <a:solidFill>
                <a:schemeClr val="bg1"/>
              </a:solidFill>
              <a:latin typeface="Calibri"/>
            </a:rPr>
            <a:t>½ page</a:t>
          </a:r>
          <a:endParaRPr lang="en-IN" sz="2800" b="1" dirty="0">
            <a:solidFill>
              <a:schemeClr val="bg1"/>
            </a:solidFill>
          </a:endParaRPr>
        </a:p>
      </dgm:t>
    </dgm:pt>
    <dgm:pt modelId="{F81E6F81-FB2E-4829-B5A5-BB823535CF69}" type="parTrans" cxnId="{8E8080F9-E4F7-40A3-9312-B13FBEDEA57F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A45B0AFA-63D9-46AA-9453-0E197393FB72}" type="sibTrans" cxnId="{8E8080F9-E4F7-40A3-9312-B13FBEDEA57F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FE92605E-FC8D-4DF9-9509-57ADE4CDEC20}">
      <dgm:prSet phldrT="[Text]" custT="1"/>
      <dgm:spPr/>
      <dgm:t>
        <a:bodyPr/>
        <a:lstStyle/>
        <a:p>
          <a:r>
            <a:rPr lang="en-IN" sz="2000" b="1" i="0" dirty="0">
              <a:solidFill>
                <a:schemeClr val="bg1"/>
              </a:solidFill>
              <a:latin typeface="Calibri"/>
            </a:rPr>
            <a:t>0 person in legal</a:t>
          </a:r>
          <a:endParaRPr lang="en-IN" sz="2000" b="1" dirty="0">
            <a:solidFill>
              <a:schemeClr val="bg1"/>
            </a:solidFill>
          </a:endParaRPr>
        </a:p>
      </dgm:t>
    </dgm:pt>
    <dgm:pt modelId="{EC600DA3-CE69-4671-A0F5-8AFF80C410EB}" type="parTrans" cxnId="{89219ABA-5670-4C66-A94B-BAE7EEFD4157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5937D7C9-DD71-4A27-800A-E727B3B185C9}" type="sibTrans" cxnId="{89219ABA-5670-4C66-A94B-BAE7EEFD4157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62ED3315-8BB1-4D04-9867-3DB9BE7474C3}">
      <dgm:prSet phldrT="[Text]"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</a:rPr>
            <a:t>Brightwater</a:t>
          </a:r>
        </a:p>
        <a:p>
          <a:r>
            <a:rPr lang="en-US" sz="1800" b="1" dirty="0">
              <a:solidFill>
                <a:schemeClr val="bg1"/>
              </a:solidFill>
            </a:rPr>
            <a:t>Losses </a:t>
          </a:r>
          <a:endParaRPr lang="en-IN" sz="1800" b="1" dirty="0">
            <a:solidFill>
              <a:schemeClr val="bg1"/>
            </a:solidFill>
          </a:endParaRPr>
        </a:p>
      </dgm:t>
    </dgm:pt>
    <dgm:pt modelId="{0BC960CA-0727-4289-8292-CADFCCA9A803}" type="parTrans" cxnId="{263C2EE5-76B5-4810-A03E-99D3232E6CA8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5B6921D7-5FBC-492C-98C7-D2BD81514EF6}" type="sibTrans" cxnId="{263C2EE5-76B5-4810-A03E-99D3232E6CA8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F3050FE9-2DFB-46AB-BD31-73830F6FE694}">
      <dgm:prSet phldrT="[Text]" custT="1"/>
      <dgm:spPr/>
      <dgm:t>
        <a:bodyPr/>
        <a:lstStyle/>
        <a:p>
          <a:r>
            <a:rPr lang="en-IN" sz="1800" b="1" i="0" dirty="0">
              <a:solidFill>
                <a:schemeClr val="bg1"/>
              </a:solidFill>
              <a:latin typeface="Calibri"/>
            </a:rPr>
            <a:t>3–4 hrs</a:t>
          </a:r>
          <a:endParaRPr lang="en-IN" sz="1800" b="1" dirty="0">
            <a:solidFill>
              <a:schemeClr val="bg1"/>
            </a:solidFill>
          </a:endParaRPr>
        </a:p>
      </dgm:t>
    </dgm:pt>
    <dgm:pt modelId="{D3F2704E-4953-4808-8D61-E419EB561D88}" type="parTrans" cxnId="{AA303B56-4831-4D24-8F3D-4E6DEF2223BD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3DE84C74-796C-4DA5-934E-0D5E1DDE0C29}" type="sibTrans" cxnId="{AA303B56-4831-4D24-8F3D-4E6DEF2223BD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107EBBCA-D24E-4BCE-B031-B33312556A4C}">
      <dgm:prSet phldrT="[Text]"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</a:rPr>
            <a:t>700K deals(15 deals in queue)</a:t>
          </a:r>
          <a:endParaRPr lang="en-IN" sz="1800" b="1" dirty="0">
            <a:solidFill>
              <a:schemeClr val="bg1"/>
            </a:solidFill>
          </a:endParaRPr>
        </a:p>
      </dgm:t>
    </dgm:pt>
    <dgm:pt modelId="{D230A687-AE05-4464-9104-A5104D0A7ED7}" type="parTrans" cxnId="{92A015F3-8D7B-4AC1-9649-9EA05FE69291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31380250-F733-4630-BBCD-6A5788CB93CB}" type="sibTrans" cxnId="{92A015F3-8D7B-4AC1-9649-9EA05FE69291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7F2A6082-9261-4FC6-BE43-F9AC9444CE99}">
      <dgm:prSet phldrT="[Text]" custT="1"/>
      <dgm:spPr/>
      <dgm:t>
        <a:bodyPr/>
        <a:lstStyle/>
        <a:p>
          <a:r>
            <a:rPr lang="en-US" sz="1800" b="1" dirty="0">
              <a:solidFill>
                <a:schemeClr val="bg1"/>
              </a:solidFill>
            </a:rPr>
            <a:t>Review Queue</a:t>
          </a:r>
          <a:endParaRPr lang="en-IN" sz="1800" b="1" dirty="0">
            <a:solidFill>
              <a:schemeClr val="bg1"/>
            </a:solidFill>
          </a:endParaRPr>
        </a:p>
      </dgm:t>
    </dgm:pt>
    <dgm:pt modelId="{58B9D24D-382F-4D3D-AC92-AE4C2D3A3B43}" type="parTrans" cxnId="{743B79B1-1975-4F2A-A341-05528F4E2522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C0BE54E6-C5F8-4D33-A8D4-34EAA0F38C98}" type="sibTrans" cxnId="{743B79B1-1975-4F2A-A341-05528F4E2522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5F464A32-0F72-40C8-8C32-A95F564F772D}" type="pres">
      <dgm:prSet presAssocID="{46C3DA85-9752-4F4A-B8C9-3FCE746ACECB}" presName="cycle" presStyleCnt="0">
        <dgm:presLayoutVars>
          <dgm:dir/>
          <dgm:resizeHandles val="exact"/>
        </dgm:presLayoutVars>
      </dgm:prSet>
      <dgm:spPr/>
    </dgm:pt>
    <dgm:pt modelId="{8C0868C1-AA3E-40BC-A273-3106D74F18EB}" type="pres">
      <dgm:prSet presAssocID="{642D8388-4B0F-45B5-B676-3B865D7DD667}" presName="node" presStyleLbl="node1" presStyleIdx="0" presStyleCnt="7">
        <dgm:presLayoutVars>
          <dgm:bulletEnabled val="1"/>
        </dgm:presLayoutVars>
      </dgm:prSet>
      <dgm:spPr/>
    </dgm:pt>
    <dgm:pt modelId="{B17CA24C-55B8-437D-B583-2C9115F9811D}" type="pres">
      <dgm:prSet presAssocID="{E3D54E6C-CDCD-44A1-8BB4-94F870AE6A66}" presName="sibTrans" presStyleLbl="sibTrans2D1" presStyleIdx="0" presStyleCnt="7"/>
      <dgm:spPr/>
    </dgm:pt>
    <dgm:pt modelId="{F9108E6B-99AB-4E37-8EA7-D82B9769A8EF}" type="pres">
      <dgm:prSet presAssocID="{E3D54E6C-CDCD-44A1-8BB4-94F870AE6A66}" presName="connectorText" presStyleLbl="sibTrans2D1" presStyleIdx="0" presStyleCnt="7"/>
      <dgm:spPr/>
    </dgm:pt>
    <dgm:pt modelId="{46330E00-79F0-4AFF-9476-B66C82246FD0}" type="pres">
      <dgm:prSet presAssocID="{0F704928-8960-4347-894C-B9146C8A5ACB}" presName="node" presStyleLbl="node1" presStyleIdx="1" presStyleCnt="7">
        <dgm:presLayoutVars>
          <dgm:bulletEnabled val="1"/>
        </dgm:presLayoutVars>
      </dgm:prSet>
      <dgm:spPr/>
    </dgm:pt>
    <dgm:pt modelId="{FCB74DB4-8FA5-48B8-AC5F-9138CE4A287E}" type="pres">
      <dgm:prSet presAssocID="{A45B0AFA-63D9-46AA-9453-0E197393FB72}" presName="sibTrans" presStyleLbl="sibTrans2D1" presStyleIdx="1" presStyleCnt="7"/>
      <dgm:spPr/>
    </dgm:pt>
    <dgm:pt modelId="{F17650DD-9B49-4368-8D59-58F91A2F1B1A}" type="pres">
      <dgm:prSet presAssocID="{A45B0AFA-63D9-46AA-9453-0E197393FB72}" presName="connectorText" presStyleLbl="sibTrans2D1" presStyleIdx="1" presStyleCnt="7"/>
      <dgm:spPr/>
    </dgm:pt>
    <dgm:pt modelId="{B4433D69-A733-4CCC-90D9-9507B1BD4331}" type="pres">
      <dgm:prSet presAssocID="{FE92605E-FC8D-4DF9-9509-57ADE4CDEC20}" presName="node" presStyleLbl="node1" presStyleIdx="2" presStyleCnt="7">
        <dgm:presLayoutVars>
          <dgm:bulletEnabled val="1"/>
        </dgm:presLayoutVars>
      </dgm:prSet>
      <dgm:spPr/>
    </dgm:pt>
    <dgm:pt modelId="{784D2E14-26A7-49C6-A9DC-06DFC416296E}" type="pres">
      <dgm:prSet presAssocID="{5937D7C9-DD71-4A27-800A-E727B3B185C9}" presName="sibTrans" presStyleLbl="sibTrans2D1" presStyleIdx="2" presStyleCnt="7"/>
      <dgm:spPr/>
    </dgm:pt>
    <dgm:pt modelId="{5AC295FC-8E3E-4328-96C8-8E6F44A56EE3}" type="pres">
      <dgm:prSet presAssocID="{5937D7C9-DD71-4A27-800A-E727B3B185C9}" presName="connectorText" presStyleLbl="sibTrans2D1" presStyleIdx="2" presStyleCnt="7"/>
      <dgm:spPr/>
    </dgm:pt>
    <dgm:pt modelId="{CA16F64E-A8AE-43D8-AF83-7AE6F80E1DC5}" type="pres">
      <dgm:prSet presAssocID="{62ED3315-8BB1-4D04-9867-3DB9BE7474C3}" presName="node" presStyleLbl="node1" presStyleIdx="3" presStyleCnt="7">
        <dgm:presLayoutVars>
          <dgm:bulletEnabled val="1"/>
        </dgm:presLayoutVars>
      </dgm:prSet>
      <dgm:spPr/>
    </dgm:pt>
    <dgm:pt modelId="{4B09C022-E6A8-4E4F-BA36-2AC14F344F99}" type="pres">
      <dgm:prSet presAssocID="{5B6921D7-5FBC-492C-98C7-D2BD81514EF6}" presName="sibTrans" presStyleLbl="sibTrans2D1" presStyleIdx="3" presStyleCnt="7"/>
      <dgm:spPr/>
    </dgm:pt>
    <dgm:pt modelId="{B5CE1336-3335-4FC0-B785-98E5833826F8}" type="pres">
      <dgm:prSet presAssocID="{5B6921D7-5FBC-492C-98C7-D2BD81514EF6}" presName="connectorText" presStyleLbl="sibTrans2D1" presStyleIdx="3" presStyleCnt="7"/>
      <dgm:spPr/>
    </dgm:pt>
    <dgm:pt modelId="{742F4E8D-BBAD-467B-B88D-DA56E0F77E5A}" type="pres">
      <dgm:prSet presAssocID="{F3050FE9-2DFB-46AB-BD31-73830F6FE694}" presName="node" presStyleLbl="node1" presStyleIdx="4" presStyleCnt="7">
        <dgm:presLayoutVars>
          <dgm:bulletEnabled val="1"/>
        </dgm:presLayoutVars>
      </dgm:prSet>
      <dgm:spPr/>
    </dgm:pt>
    <dgm:pt modelId="{F88593AE-4FE3-4519-8A97-450F0660C4F8}" type="pres">
      <dgm:prSet presAssocID="{3DE84C74-796C-4DA5-934E-0D5E1DDE0C29}" presName="sibTrans" presStyleLbl="sibTrans2D1" presStyleIdx="4" presStyleCnt="7"/>
      <dgm:spPr/>
    </dgm:pt>
    <dgm:pt modelId="{E7CAD882-53E1-4CE3-918B-F5FDB703ADBE}" type="pres">
      <dgm:prSet presAssocID="{3DE84C74-796C-4DA5-934E-0D5E1DDE0C29}" presName="connectorText" presStyleLbl="sibTrans2D1" presStyleIdx="4" presStyleCnt="7"/>
      <dgm:spPr/>
    </dgm:pt>
    <dgm:pt modelId="{F7CD91B7-1F0D-4265-B286-50A5F4B1B5B0}" type="pres">
      <dgm:prSet presAssocID="{107EBBCA-D24E-4BCE-B031-B33312556A4C}" presName="node" presStyleLbl="node1" presStyleIdx="5" presStyleCnt="7">
        <dgm:presLayoutVars>
          <dgm:bulletEnabled val="1"/>
        </dgm:presLayoutVars>
      </dgm:prSet>
      <dgm:spPr/>
    </dgm:pt>
    <dgm:pt modelId="{16BBF225-13A5-4FDA-9E45-12943F74F5CC}" type="pres">
      <dgm:prSet presAssocID="{31380250-F733-4630-BBCD-6A5788CB93CB}" presName="sibTrans" presStyleLbl="sibTrans2D1" presStyleIdx="5" presStyleCnt="7"/>
      <dgm:spPr/>
    </dgm:pt>
    <dgm:pt modelId="{C87C59CA-07EB-42B7-8BEC-0B6C6796871D}" type="pres">
      <dgm:prSet presAssocID="{31380250-F733-4630-BBCD-6A5788CB93CB}" presName="connectorText" presStyleLbl="sibTrans2D1" presStyleIdx="5" presStyleCnt="7"/>
      <dgm:spPr/>
    </dgm:pt>
    <dgm:pt modelId="{6A6E938B-3AD0-4B51-A94C-6750B819A1E8}" type="pres">
      <dgm:prSet presAssocID="{7F2A6082-9261-4FC6-BE43-F9AC9444CE99}" presName="node" presStyleLbl="node1" presStyleIdx="6" presStyleCnt="7">
        <dgm:presLayoutVars>
          <dgm:bulletEnabled val="1"/>
        </dgm:presLayoutVars>
      </dgm:prSet>
      <dgm:spPr/>
    </dgm:pt>
    <dgm:pt modelId="{9532BBBE-CFC5-4AB2-ABF5-07478C62D071}" type="pres">
      <dgm:prSet presAssocID="{C0BE54E6-C5F8-4D33-A8D4-34EAA0F38C98}" presName="sibTrans" presStyleLbl="sibTrans2D1" presStyleIdx="6" presStyleCnt="7"/>
      <dgm:spPr/>
    </dgm:pt>
    <dgm:pt modelId="{3BCB0186-441C-432E-BD2C-40BAECDDDCD2}" type="pres">
      <dgm:prSet presAssocID="{C0BE54E6-C5F8-4D33-A8D4-34EAA0F38C98}" presName="connectorText" presStyleLbl="sibTrans2D1" presStyleIdx="6" presStyleCnt="7"/>
      <dgm:spPr/>
    </dgm:pt>
  </dgm:ptLst>
  <dgm:cxnLst>
    <dgm:cxn modelId="{CC37780D-FB52-4FDE-B4C3-03BFB08FD716}" type="presOf" srcId="{0F704928-8960-4347-894C-B9146C8A5ACB}" destId="{46330E00-79F0-4AFF-9476-B66C82246FD0}" srcOrd="0" destOrd="0" presId="urn:microsoft.com/office/officeart/2005/8/layout/cycle2"/>
    <dgm:cxn modelId="{E92DA70D-4A43-48BF-8F68-A5D364F12974}" type="presOf" srcId="{5B6921D7-5FBC-492C-98C7-D2BD81514EF6}" destId="{4B09C022-E6A8-4E4F-BA36-2AC14F344F99}" srcOrd="0" destOrd="0" presId="urn:microsoft.com/office/officeart/2005/8/layout/cycle2"/>
    <dgm:cxn modelId="{12AB2111-6B7F-46E4-8766-81AFE227E48B}" type="presOf" srcId="{7F2A6082-9261-4FC6-BE43-F9AC9444CE99}" destId="{6A6E938B-3AD0-4B51-A94C-6750B819A1E8}" srcOrd="0" destOrd="0" presId="urn:microsoft.com/office/officeart/2005/8/layout/cycle2"/>
    <dgm:cxn modelId="{67596239-48DD-4284-B0EB-50D000D80075}" type="presOf" srcId="{46C3DA85-9752-4F4A-B8C9-3FCE746ACECB}" destId="{5F464A32-0F72-40C8-8C32-A95F564F772D}" srcOrd="0" destOrd="0" presId="urn:microsoft.com/office/officeart/2005/8/layout/cycle2"/>
    <dgm:cxn modelId="{BA38F96E-C183-408C-A4EF-DAC6CA3DFEBA}" type="presOf" srcId="{31380250-F733-4630-BBCD-6A5788CB93CB}" destId="{C87C59CA-07EB-42B7-8BEC-0B6C6796871D}" srcOrd="1" destOrd="0" presId="urn:microsoft.com/office/officeart/2005/8/layout/cycle2"/>
    <dgm:cxn modelId="{AA303B56-4831-4D24-8F3D-4E6DEF2223BD}" srcId="{46C3DA85-9752-4F4A-B8C9-3FCE746ACECB}" destId="{F3050FE9-2DFB-46AB-BD31-73830F6FE694}" srcOrd="4" destOrd="0" parTransId="{D3F2704E-4953-4808-8D61-E419EB561D88}" sibTransId="{3DE84C74-796C-4DA5-934E-0D5E1DDE0C29}"/>
    <dgm:cxn modelId="{50997078-A190-4EEC-8F34-FD5CAFCFFAD0}" srcId="{46C3DA85-9752-4F4A-B8C9-3FCE746ACECB}" destId="{642D8388-4B0F-45B5-B676-3B865D7DD667}" srcOrd="0" destOrd="0" parTransId="{CB1827FD-A04E-40A6-BF58-1EABB18D8C9A}" sibTransId="{E3D54E6C-CDCD-44A1-8BB4-94F870AE6A66}"/>
    <dgm:cxn modelId="{E7817285-E4F3-4816-B24C-BEDB4087A591}" type="presOf" srcId="{F3050FE9-2DFB-46AB-BD31-73830F6FE694}" destId="{742F4E8D-BBAD-467B-B88D-DA56E0F77E5A}" srcOrd="0" destOrd="0" presId="urn:microsoft.com/office/officeart/2005/8/layout/cycle2"/>
    <dgm:cxn modelId="{AE005D8E-D500-4603-B1DE-96ADC0A4713F}" type="presOf" srcId="{3DE84C74-796C-4DA5-934E-0D5E1DDE0C29}" destId="{F88593AE-4FE3-4519-8A97-450F0660C4F8}" srcOrd="0" destOrd="0" presId="urn:microsoft.com/office/officeart/2005/8/layout/cycle2"/>
    <dgm:cxn modelId="{EB620FA2-9D81-49A1-B6C6-D76BFF37C219}" type="presOf" srcId="{FE92605E-FC8D-4DF9-9509-57ADE4CDEC20}" destId="{B4433D69-A733-4CCC-90D9-9507B1BD4331}" srcOrd="0" destOrd="0" presId="urn:microsoft.com/office/officeart/2005/8/layout/cycle2"/>
    <dgm:cxn modelId="{5B560AA4-CCA9-424B-BCCD-18D9FAF7ABF4}" type="presOf" srcId="{107EBBCA-D24E-4BCE-B031-B33312556A4C}" destId="{F7CD91B7-1F0D-4265-B286-50A5F4B1B5B0}" srcOrd="0" destOrd="0" presId="urn:microsoft.com/office/officeart/2005/8/layout/cycle2"/>
    <dgm:cxn modelId="{90CF5CA4-F5D1-4696-BCEE-845E5E835AF6}" type="presOf" srcId="{642D8388-4B0F-45B5-B676-3B865D7DD667}" destId="{8C0868C1-AA3E-40BC-A273-3106D74F18EB}" srcOrd="0" destOrd="0" presId="urn:microsoft.com/office/officeart/2005/8/layout/cycle2"/>
    <dgm:cxn modelId="{B18292A8-C45F-45DD-A55D-BD00D000994E}" type="presOf" srcId="{E3D54E6C-CDCD-44A1-8BB4-94F870AE6A66}" destId="{B17CA24C-55B8-437D-B583-2C9115F9811D}" srcOrd="0" destOrd="0" presId="urn:microsoft.com/office/officeart/2005/8/layout/cycle2"/>
    <dgm:cxn modelId="{852CF2A8-5ACB-4E78-B12E-AE574F646004}" type="presOf" srcId="{5937D7C9-DD71-4A27-800A-E727B3B185C9}" destId="{784D2E14-26A7-49C6-A9DC-06DFC416296E}" srcOrd="0" destOrd="0" presId="urn:microsoft.com/office/officeart/2005/8/layout/cycle2"/>
    <dgm:cxn modelId="{743B79B1-1975-4F2A-A341-05528F4E2522}" srcId="{46C3DA85-9752-4F4A-B8C9-3FCE746ACECB}" destId="{7F2A6082-9261-4FC6-BE43-F9AC9444CE99}" srcOrd="6" destOrd="0" parTransId="{58B9D24D-382F-4D3D-AC92-AE4C2D3A3B43}" sibTransId="{C0BE54E6-C5F8-4D33-A8D4-34EAA0F38C98}"/>
    <dgm:cxn modelId="{89219ABA-5670-4C66-A94B-BAE7EEFD4157}" srcId="{46C3DA85-9752-4F4A-B8C9-3FCE746ACECB}" destId="{FE92605E-FC8D-4DF9-9509-57ADE4CDEC20}" srcOrd="2" destOrd="0" parTransId="{EC600DA3-CE69-4671-A0F5-8AFF80C410EB}" sibTransId="{5937D7C9-DD71-4A27-800A-E727B3B185C9}"/>
    <dgm:cxn modelId="{94A0EABF-B413-43FE-B5E8-3D830AD91098}" type="presOf" srcId="{A45B0AFA-63D9-46AA-9453-0E197393FB72}" destId="{F17650DD-9B49-4368-8D59-58F91A2F1B1A}" srcOrd="1" destOrd="0" presId="urn:microsoft.com/office/officeart/2005/8/layout/cycle2"/>
    <dgm:cxn modelId="{22B68BC0-EC75-47BC-A896-882B8D998329}" type="presOf" srcId="{C0BE54E6-C5F8-4D33-A8D4-34EAA0F38C98}" destId="{9532BBBE-CFC5-4AB2-ABF5-07478C62D071}" srcOrd="0" destOrd="0" presId="urn:microsoft.com/office/officeart/2005/8/layout/cycle2"/>
    <dgm:cxn modelId="{F9FE3EC9-E8D2-4608-804D-9BA3183D2545}" type="presOf" srcId="{E3D54E6C-CDCD-44A1-8BB4-94F870AE6A66}" destId="{F9108E6B-99AB-4E37-8EA7-D82B9769A8EF}" srcOrd="1" destOrd="0" presId="urn:microsoft.com/office/officeart/2005/8/layout/cycle2"/>
    <dgm:cxn modelId="{E83375CA-E372-46E7-9F3C-FEF4BC654CA1}" type="presOf" srcId="{31380250-F733-4630-BBCD-6A5788CB93CB}" destId="{16BBF225-13A5-4FDA-9E45-12943F74F5CC}" srcOrd="0" destOrd="0" presId="urn:microsoft.com/office/officeart/2005/8/layout/cycle2"/>
    <dgm:cxn modelId="{4FBA37CE-A90F-47CD-9F88-722C59A267E5}" type="presOf" srcId="{62ED3315-8BB1-4D04-9867-3DB9BE7474C3}" destId="{CA16F64E-A8AE-43D8-AF83-7AE6F80E1DC5}" srcOrd="0" destOrd="0" presId="urn:microsoft.com/office/officeart/2005/8/layout/cycle2"/>
    <dgm:cxn modelId="{CEAC70CF-4F43-4C32-B007-57C846392A54}" type="presOf" srcId="{5B6921D7-5FBC-492C-98C7-D2BD81514EF6}" destId="{B5CE1336-3335-4FC0-B785-98E5833826F8}" srcOrd="1" destOrd="0" presId="urn:microsoft.com/office/officeart/2005/8/layout/cycle2"/>
    <dgm:cxn modelId="{A42E2CD8-3104-40E4-BB1A-1C365F22A2FE}" type="presOf" srcId="{5937D7C9-DD71-4A27-800A-E727B3B185C9}" destId="{5AC295FC-8E3E-4328-96C8-8E6F44A56EE3}" srcOrd="1" destOrd="0" presId="urn:microsoft.com/office/officeart/2005/8/layout/cycle2"/>
    <dgm:cxn modelId="{443C72DA-D65D-43BB-9CCF-CC851D117C48}" type="presOf" srcId="{C0BE54E6-C5F8-4D33-A8D4-34EAA0F38C98}" destId="{3BCB0186-441C-432E-BD2C-40BAECDDDCD2}" srcOrd="1" destOrd="0" presId="urn:microsoft.com/office/officeart/2005/8/layout/cycle2"/>
    <dgm:cxn modelId="{ED462BE3-68F1-4626-A8F6-E203B35F8FB8}" type="presOf" srcId="{3DE84C74-796C-4DA5-934E-0D5E1DDE0C29}" destId="{E7CAD882-53E1-4CE3-918B-F5FDB703ADBE}" srcOrd="1" destOrd="0" presId="urn:microsoft.com/office/officeart/2005/8/layout/cycle2"/>
    <dgm:cxn modelId="{263C2EE5-76B5-4810-A03E-99D3232E6CA8}" srcId="{46C3DA85-9752-4F4A-B8C9-3FCE746ACECB}" destId="{62ED3315-8BB1-4D04-9867-3DB9BE7474C3}" srcOrd="3" destOrd="0" parTransId="{0BC960CA-0727-4289-8292-CADFCCA9A803}" sibTransId="{5B6921D7-5FBC-492C-98C7-D2BD81514EF6}"/>
    <dgm:cxn modelId="{92A015F3-8D7B-4AC1-9649-9EA05FE69291}" srcId="{46C3DA85-9752-4F4A-B8C9-3FCE746ACECB}" destId="{107EBBCA-D24E-4BCE-B031-B33312556A4C}" srcOrd="5" destOrd="0" parTransId="{D230A687-AE05-4464-9104-A5104D0A7ED7}" sibTransId="{31380250-F733-4630-BBCD-6A5788CB93CB}"/>
    <dgm:cxn modelId="{8E8080F9-E4F7-40A3-9312-B13FBEDEA57F}" srcId="{46C3DA85-9752-4F4A-B8C9-3FCE746ACECB}" destId="{0F704928-8960-4347-894C-B9146C8A5ACB}" srcOrd="1" destOrd="0" parTransId="{F81E6F81-FB2E-4829-B5A5-BB823535CF69}" sibTransId="{A45B0AFA-63D9-46AA-9453-0E197393FB72}"/>
    <dgm:cxn modelId="{429093FA-6D12-425F-8BA8-1B5CEABB4618}" type="presOf" srcId="{A45B0AFA-63D9-46AA-9453-0E197393FB72}" destId="{FCB74DB4-8FA5-48B8-AC5F-9138CE4A287E}" srcOrd="0" destOrd="0" presId="urn:microsoft.com/office/officeart/2005/8/layout/cycle2"/>
    <dgm:cxn modelId="{D5204107-7F79-42ED-8387-F2E877B4B4B3}" type="presParOf" srcId="{5F464A32-0F72-40C8-8C32-A95F564F772D}" destId="{8C0868C1-AA3E-40BC-A273-3106D74F18EB}" srcOrd="0" destOrd="0" presId="urn:microsoft.com/office/officeart/2005/8/layout/cycle2"/>
    <dgm:cxn modelId="{42E5BE11-173B-4D5D-A064-E4FA2EA0E70C}" type="presParOf" srcId="{5F464A32-0F72-40C8-8C32-A95F564F772D}" destId="{B17CA24C-55B8-437D-B583-2C9115F9811D}" srcOrd="1" destOrd="0" presId="urn:microsoft.com/office/officeart/2005/8/layout/cycle2"/>
    <dgm:cxn modelId="{F9BDC6D4-39B8-4BA9-8766-FF50ABDB2C86}" type="presParOf" srcId="{B17CA24C-55B8-437D-B583-2C9115F9811D}" destId="{F9108E6B-99AB-4E37-8EA7-D82B9769A8EF}" srcOrd="0" destOrd="0" presId="urn:microsoft.com/office/officeart/2005/8/layout/cycle2"/>
    <dgm:cxn modelId="{CBA4CE1A-52D0-4FF4-8D09-102B6FE66865}" type="presParOf" srcId="{5F464A32-0F72-40C8-8C32-A95F564F772D}" destId="{46330E00-79F0-4AFF-9476-B66C82246FD0}" srcOrd="2" destOrd="0" presId="urn:microsoft.com/office/officeart/2005/8/layout/cycle2"/>
    <dgm:cxn modelId="{7AA2A054-BD59-4C99-A748-0BCB22DAA1DD}" type="presParOf" srcId="{5F464A32-0F72-40C8-8C32-A95F564F772D}" destId="{FCB74DB4-8FA5-48B8-AC5F-9138CE4A287E}" srcOrd="3" destOrd="0" presId="urn:microsoft.com/office/officeart/2005/8/layout/cycle2"/>
    <dgm:cxn modelId="{64B963C7-059D-46D5-A8EC-55B3F32FB7F3}" type="presParOf" srcId="{FCB74DB4-8FA5-48B8-AC5F-9138CE4A287E}" destId="{F17650DD-9B49-4368-8D59-58F91A2F1B1A}" srcOrd="0" destOrd="0" presId="urn:microsoft.com/office/officeart/2005/8/layout/cycle2"/>
    <dgm:cxn modelId="{1189E81D-CC34-42F8-88D2-6FF711152CBF}" type="presParOf" srcId="{5F464A32-0F72-40C8-8C32-A95F564F772D}" destId="{B4433D69-A733-4CCC-90D9-9507B1BD4331}" srcOrd="4" destOrd="0" presId="urn:microsoft.com/office/officeart/2005/8/layout/cycle2"/>
    <dgm:cxn modelId="{E9D27F88-97D4-469B-95CA-94ABB17A096E}" type="presParOf" srcId="{5F464A32-0F72-40C8-8C32-A95F564F772D}" destId="{784D2E14-26A7-49C6-A9DC-06DFC416296E}" srcOrd="5" destOrd="0" presId="urn:microsoft.com/office/officeart/2005/8/layout/cycle2"/>
    <dgm:cxn modelId="{80972711-1AED-4C34-9B3E-8FF78701618C}" type="presParOf" srcId="{784D2E14-26A7-49C6-A9DC-06DFC416296E}" destId="{5AC295FC-8E3E-4328-96C8-8E6F44A56EE3}" srcOrd="0" destOrd="0" presId="urn:microsoft.com/office/officeart/2005/8/layout/cycle2"/>
    <dgm:cxn modelId="{64E8188D-F24D-4D96-9DB5-23D10ED2F0CC}" type="presParOf" srcId="{5F464A32-0F72-40C8-8C32-A95F564F772D}" destId="{CA16F64E-A8AE-43D8-AF83-7AE6F80E1DC5}" srcOrd="6" destOrd="0" presId="urn:microsoft.com/office/officeart/2005/8/layout/cycle2"/>
    <dgm:cxn modelId="{67A3C0B2-A189-40A6-A6D3-E132AD740206}" type="presParOf" srcId="{5F464A32-0F72-40C8-8C32-A95F564F772D}" destId="{4B09C022-E6A8-4E4F-BA36-2AC14F344F99}" srcOrd="7" destOrd="0" presId="urn:microsoft.com/office/officeart/2005/8/layout/cycle2"/>
    <dgm:cxn modelId="{8218489F-33C6-4D5F-B7DF-357171870CFD}" type="presParOf" srcId="{4B09C022-E6A8-4E4F-BA36-2AC14F344F99}" destId="{B5CE1336-3335-4FC0-B785-98E5833826F8}" srcOrd="0" destOrd="0" presId="urn:microsoft.com/office/officeart/2005/8/layout/cycle2"/>
    <dgm:cxn modelId="{BC65A957-2DCE-4B78-AB5A-2FE4EAFF4CB5}" type="presParOf" srcId="{5F464A32-0F72-40C8-8C32-A95F564F772D}" destId="{742F4E8D-BBAD-467B-B88D-DA56E0F77E5A}" srcOrd="8" destOrd="0" presId="urn:microsoft.com/office/officeart/2005/8/layout/cycle2"/>
    <dgm:cxn modelId="{49E5A930-8058-45AD-8CD7-2E2004830A5B}" type="presParOf" srcId="{5F464A32-0F72-40C8-8C32-A95F564F772D}" destId="{F88593AE-4FE3-4519-8A97-450F0660C4F8}" srcOrd="9" destOrd="0" presId="urn:microsoft.com/office/officeart/2005/8/layout/cycle2"/>
    <dgm:cxn modelId="{B3EDC7AF-2D40-4735-B907-22AFC57F3F19}" type="presParOf" srcId="{F88593AE-4FE3-4519-8A97-450F0660C4F8}" destId="{E7CAD882-53E1-4CE3-918B-F5FDB703ADBE}" srcOrd="0" destOrd="0" presId="urn:microsoft.com/office/officeart/2005/8/layout/cycle2"/>
    <dgm:cxn modelId="{4646958A-8EDB-4E04-B6A3-28F693CDA314}" type="presParOf" srcId="{5F464A32-0F72-40C8-8C32-A95F564F772D}" destId="{F7CD91B7-1F0D-4265-B286-50A5F4B1B5B0}" srcOrd="10" destOrd="0" presId="urn:microsoft.com/office/officeart/2005/8/layout/cycle2"/>
    <dgm:cxn modelId="{3BADD83C-2572-4965-9A15-983ED1C95C81}" type="presParOf" srcId="{5F464A32-0F72-40C8-8C32-A95F564F772D}" destId="{16BBF225-13A5-4FDA-9E45-12943F74F5CC}" srcOrd="11" destOrd="0" presId="urn:microsoft.com/office/officeart/2005/8/layout/cycle2"/>
    <dgm:cxn modelId="{966620A5-ACE8-4F39-BDB6-6F59756729EE}" type="presParOf" srcId="{16BBF225-13A5-4FDA-9E45-12943F74F5CC}" destId="{C87C59CA-07EB-42B7-8BEC-0B6C6796871D}" srcOrd="0" destOrd="0" presId="urn:microsoft.com/office/officeart/2005/8/layout/cycle2"/>
    <dgm:cxn modelId="{7B963689-7824-4415-ADAE-F4C4E36E7558}" type="presParOf" srcId="{5F464A32-0F72-40C8-8C32-A95F564F772D}" destId="{6A6E938B-3AD0-4B51-A94C-6750B819A1E8}" srcOrd="12" destOrd="0" presId="urn:microsoft.com/office/officeart/2005/8/layout/cycle2"/>
    <dgm:cxn modelId="{D9717E8A-D5BF-4EEF-B691-C525F950E5FE}" type="presParOf" srcId="{5F464A32-0F72-40C8-8C32-A95F564F772D}" destId="{9532BBBE-CFC5-4AB2-ABF5-07478C62D071}" srcOrd="13" destOrd="0" presId="urn:microsoft.com/office/officeart/2005/8/layout/cycle2"/>
    <dgm:cxn modelId="{BE07B7F3-71B7-481E-B060-DC5E2B551B72}" type="presParOf" srcId="{9532BBBE-CFC5-4AB2-ABF5-07478C62D071}" destId="{3BCB0186-441C-432E-BD2C-40BAECDDDCD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C3DA85-9752-4F4A-B8C9-3FCE746ACECB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42D8388-4B0F-45B5-B676-3B865D7DD667}">
      <dgm:prSet phldrT="[Text]"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</a:rPr>
            <a:t>After 10pm  </a:t>
          </a:r>
        </a:p>
        <a:p>
          <a:r>
            <a:rPr lang="en-US" sz="1200" b="1" dirty="0">
              <a:solidFill>
                <a:schemeClr val="bg1"/>
              </a:solidFill>
            </a:rPr>
            <a:t>to</a:t>
          </a:r>
        </a:p>
        <a:p>
          <a:r>
            <a:rPr lang="en-IN" sz="1200" b="1" dirty="0">
              <a:solidFill>
                <a:schemeClr val="bg1"/>
              </a:solidFill>
              <a:highlight>
                <a:srgbClr val="008000"/>
              </a:highlight>
            </a:rPr>
            <a:t>To same day signoff</a:t>
          </a:r>
        </a:p>
      </dgm:t>
    </dgm:pt>
    <dgm:pt modelId="{CB1827FD-A04E-40A6-BF58-1EABB18D8C9A}" type="parTrans" cxnId="{50997078-A190-4EEC-8F34-FD5CAFCFFAD0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E3D54E6C-CDCD-44A1-8BB4-94F870AE6A66}" type="sibTrans" cxnId="{50997078-A190-4EEC-8F34-FD5CAFCFFAD0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0F704928-8960-4347-894C-B9146C8A5ACB}">
      <dgm:prSet phldrT="[Text]" custT="1"/>
      <dgm:spPr/>
      <dgm:t>
        <a:bodyPr/>
        <a:lstStyle/>
        <a:p>
          <a:r>
            <a:rPr lang="en-IN" sz="1200" b="1" i="0" dirty="0">
              <a:solidFill>
                <a:schemeClr val="bg1"/>
              </a:solidFill>
              <a:latin typeface="Calibri"/>
            </a:rPr>
            <a:t>½ page to</a:t>
          </a:r>
        </a:p>
        <a:p>
          <a:r>
            <a:rPr lang="en-IN" sz="1200" b="1" i="0" dirty="0">
              <a:solidFill>
                <a:schemeClr val="bg1"/>
              </a:solidFill>
              <a:latin typeface="Calibri"/>
            </a:rPr>
            <a:t>to </a:t>
          </a:r>
        </a:p>
        <a:p>
          <a:r>
            <a:rPr lang="en-IN" sz="1200" b="1" i="0" dirty="0">
              <a:solidFill>
                <a:schemeClr val="bg1"/>
              </a:solidFill>
              <a:latin typeface="Calibri"/>
            </a:rPr>
            <a:t> </a:t>
          </a:r>
          <a:r>
            <a:rPr lang="en-IN" sz="1200" b="1" i="0" dirty="0">
              <a:solidFill>
                <a:schemeClr val="bg1"/>
              </a:solidFill>
              <a:highlight>
                <a:srgbClr val="008000"/>
              </a:highlight>
              <a:latin typeface="Calibri"/>
            </a:rPr>
            <a:t>full contract and updated checklist</a:t>
          </a:r>
          <a:endParaRPr lang="en-IN" sz="1200" b="1" dirty="0">
            <a:solidFill>
              <a:schemeClr val="bg1"/>
            </a:solidFill>
            <a:highlight>
              <a:srgbClr val="008000"/>
            </a:highlight>
          </a:endParaRPr>
        </a:p>
      </dgm:t>
    </dgm:pt>
    <dgm:pt modelId="{F81E6F81-FB2E-4829-B5A5-BB823535CF69}" type="parTrans" cxnId="{8E8080F9-E4F7-40A3-9312-B13FBEDEA57F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A45B0AFA-63D9-46AA-9453-0E197393FB72}" type="sibTrans" cxnId="{8E8080F9-E4F7-40A3-9312-B13FBEDEA57F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FE92605E-FC8D-4DF9-9509-57ADE4CDEC20}">
      <dgm:prSet phldrT="[Text]" custT="1"/>
      <dgm:spPr/>
      <dgm:t>
        <a:bodyPr/>
        <a:lstStyle/>
        <a:p>
          <a:r>
            <a:rPr lang="en-IN" sz="1200" b="1" i="0" dirty="0">
              <a:solidFill>
                <a:schemeClr val="bg1"/>
              </a:solidFill>
              <a:latin typeface="Calibri"/>
            </a:rPr>
            <a:t>0 person in legal </a:t>
          </a:r>
        </a:p>
        <a:p>
          <a:r>
            <a:rPr lang="en-IN" sz="1200" b="1" i="0" dirty="0">
              <a:solidFill>
                <a:schemeClr val="bg1"/>
              </a:solidFill>
              <a:latin typeface="Calibri"/>
            </a:rPr>
            <a:t>to</a:t>
          </a:r>
        </a:p>
        <a:p>
          <a:r>
            <a:rPr lang="en-IN" sz="1200" b="1" i="0" dirty="0">
              <a:solidFill>
                <a:schemeClr val="bg1"/>
              </a:solidFill>
              <a:latin typeface="Calibri"/>
            </a:rPr>
            <a:t> </a:t>
          </a:r>
          <a:r>
            <a:rPr lang="en-IN" sz="1200" b="1" i="0" dirty="0">
              <a:solidFill>
                <a:schemeClr val="bg1"/>
              </a:solidFill>
              <a:highlight>
                <a:srgbClr val="008000"/>
              </a:highlight>
              <a:latin typeface="Calibri"/>
            </a:rPr>
            <a:t>Legal check every deal</a:t>
          </a:r>
          <a:endParaRPr lang="en-IN" sz="1200" b="1" dirty="0">
            <a:solidFill>
              <a:schemeClr val="bg1"/>
            </a:solidFill>
            <a:highlight>
              <a:srgbClr val="008000"/>
            </a:highlight>
          </a:endParaRPr>
        </a:p>
      </dgm:t>
    </dgm:pt>
    <dgm:pt modelId="{EC600DA3-CE69-4671-A0F5-8AFF80C410EB}" type="parTrans" cxnId="{89219ABA-5670-4C66-A94B-BAE7EEFD4157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5937D7C9-DD71-4A27-800A-E727B3B185C9}" type="sibTrans" cxnId="{89219ABA-5670-4C66-A94B-BAE7EEFD4157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62ED3315-8BB1-4D04-9867-3DB9BE7474C3}">
      <dgm:prSet phldrT="[Text]"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</a:rPr>
            <a:t>Brightwater Losses  </a:t>
          </a:r>
        </a:p>
        <a:p>
          <a:r>
            <a:rPr lang="en-US" sz="1200" b="1" dirty="0">
              <a:solidFill>
                <a:schemeClr val="bg1"/>
              </a:solidFill>
            </a:rPr>
            <a:t>to </a:t>
          </a:r>
        </a:p>
        <a:p>
          <a:r>
            <a:rPr lang="en-IN" sz="1200" b="1" dirty="0">
              <a:solidFill>
                <a:schemeClr val="bg1"/>
              </a:solidFill>
              <a:highlight>
                <a:srgbClr val="008000"/>
              </a:highlight>
            </a:rPr>
            <a:t>0 losses/</a:t>
          </a:r>
        </a:p>
        <a:p>
          <a:r>
            <a:rPr lang="en-IN" sz="1200" b="1" dirty="0">
              <a:solidFill>
                <a:schemeClr val="bg1"/>
              </a:solidFill>
              <a:highlight>
                <a:srgbClr val="008000"/>
              </a:highlight>
            </a:rPr>
            <a:t>misses</a:t>
          </a:r>
        </a:p>
      </dgm:t>
    </dgm:pt>
    <dgm:pt modelId="{0BC960CA-0727-4289-8292-CADFCCA9A803}" type="parTrans" cxnId="{263C2EE5-76B5-4810-A03E-99D3232E6CA8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5B6921D7-5FBC-492C-98C7-D2BD81514EF6}" type="sibTrans" cxnId="{263C2EE5-76B5-4810-A03E-99D3232E6CA8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F3050FE9-2DFB-46AB-BD31-73830F6FE694}">
      <dgm:prSet phldrT="[Text]" custT="1"/>
      <dgm:spPr/>
      <dgm:t>
        <a:bodyPr/>
        <a:lstStyle/>
        <a:p>
          <a:r>
            <a:rPr lang="en-IN" sz="1050" b="1" i="0" dirty="0">
              <a:solidFill>
                <a:schemeClr val="bg1"/>
              </a:solidFill>
              <a:latin typeface="Calibri"/>
            </a:rPr>
            <a:t>3–4 hrs</a:t>
          </a:r>
        </a:p>
        <a:p>
          <a:r>
            <a:rPr lang="en-IN" sz="1050" b="1" i="0" dirty="0">
              <a:solidFill>
                <a:schemeClr val="bg1"/>
              </a:solidFill>
              <a:latin typeface="Calibri"/>
            </a:rPr>
            <a:t> to</a:t>
          </a:r>
        </a:p>
        <a:p>
          <a:r>
            <a:rPr lang="en-IN" sz="1050" b="1" dirty="0">
              <a:highlight>
                <a:srgbClr val="008000"/>
              </a:highlight>
            </a:rPr>
            <a:t>Minutes, not hours and ready brief for negotiation</a:t>
          </a:r>
          <a:endParaRPr lang="en-IN" sz="1050" b="1" dirty="0">
            <a:solidFill>
              <a:schemeClr val="bg1"/>
            </a:solidFill>
            <a:highlight>
              <a:srgbClr val="008000"/>
            </a:highlight>
          </a:endParaRPr>
        </a:p>
      </dgm:t>
    </dgm:pt>
    <dgm:pt modelId="{D3F2704E-4953-4808-8D61-E419EB561D88}" type="parTrans" cxnId="{AA303B56-4831-4D24-8F3D-4E6DEF2223BD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3DE84C74-796C-4DA5-934E-0D5E1DDE0C29}" type="sibTrans" cxnId="{AA303B56-4831-4D24-8F3D-4E6DEF2223BD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107EBBCA-D24E-4BCE-B031-B33312556A4C}">
      <dgm:prSet phldrT="[Text]" custT="1"/>
      <dgm:spPr/>
      <dgm:t>
        <a:bodyPr/>
        <a:lstStyle/>
        <a:p>
          <a:r>
            <a:rPr lang="en-US" sz="1050" b="1" dirty="0">
              <a:solidFill>
                <a:schemeClr val="bg1"/>
              </a:solidFill>
            </a:rPr>
            <a:t>700k deals (15 deals queue)</a:t>
          </a:r>
        </a:p>
        <a:p>
          <a:r>
            <a:rPr lang="en-US" sz="1050" b="1" dirty="0">
              <a:solidFill>
                <a:schemeClr val="bg1"/>
              </a:solidFill>
            </a:rPr>
            <a:t> to </a:t>
          </a:r>
        </a:p>
        <a:p>
          <a:r>
            <a:rPr lang="en-IN" sz="1050" b="1" dirty="0">
              <a:solidFill>
                <a:schemeClr val="bg1"/>
              </a:solidFill>
              <a:highlight>
                <a:srgbClr val="008000"/>
              </a:highlight>
            </a:rPr>
            <a:t>All deals unblocked</a:t>
          </a:r>
        </a:p>
      </dgm:t>
    </dgm:pt>
    <dgm:pt modelId="{D230A687-AE05-4464-9104-A5104D0A7ED7}" type="parTrans" cxnId="{92A015F3-8D7B-4AC1-9649-9EA05FE69291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31380250-F733-4630-BBCD-6A5788CB93CB}" type="sibTrans" cxnId="{92A015F3-8D7B-4AC1-9649-9EA05FE69291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7F2A6082-9261-4FC6-BE43-F9AC9444CE99}">
      <dgm:prSet phldrT="[Text]" custT="1"/>
      <dgm:spPr/>
      <dgm:t>
        <a:bodyPr/>
        <a:lstStyle/>
        <a:p>
          <a:r>
            <a:rPr lang="en-US" sz="1100" b="1" dirty="0">
              <a:solidFill>
                <a:schemeClr val="bg1"/>
              </a:solidFill>
            </a:rPr>
            <a:t>Review Queue</a:t>
          </a:r>
        </a:p>
        <a:p>
          <a:r>
            <a:rPr lang="en-IN" sz="1100" b="1" dirty="0">
              <a:solidFill>
                <a:schemeClr val="bg1"/>
              </a:solidFill>
            </a:rPr>
            <a:t>To </a:t>
          </a:r>
        </a:p>
        <a:p>
          <a:r>
            <a:rPr lang="en-IN" sz="1100" dirty="0">
              <a:highlight>
                <a:srgbClr val="008000"/>
              </a:highlight>
            </a:rPr>
            <a:t>Zero backlog</a:t>
          </a:r>
          <a:endParaRPr lang="en-IN" sz="1100" b="1" dirty="0">
            <a:solidFill>
              <a:schemeClr val="bg1"/>
            </a:solidFill>
            <a:highlight>
              <a:srgbClr val="008000"/>
            </a:highlight>
          </a:endParaRPr>
        </a:p>
      </dgm:t>
    </dgm:pt>
    <dgm:pt modelId="{58B9D24D-382F-4D3D-AC92-AE4C2D3A3B43}" type="parTrans" cxnId="{743B79B1-1975-4F2A-A341-05528F4E2522}">
      <dgm:prSet/>
      <dgm:spPr/>
      <dgm:t>
        <a:bodyPr/>
        <a:lstStyle/>
        <a:p>
          <a:endParaRPr lang="en-IN" sz="2400" b="1">
            <a:solidFill>
              <a:schemeClr val="bg1"/>
            </a:solidFill>
          </a:endParaRPr>
        </a:p>
      </dgm:t>
    </dgm:pt>
    <dgm:pt modelId="{C0BE54E6-C5F8-4D33-A8D4-34EAA0F38C98}" type="sibTrans" cxnId="{743B79B1-1975-4F2A-A341-05528F4E2522}">
      <dgm:prSet custT="1"/>
      <dgm:spPr/>
      <dgm:t>
        <a:bodyPr/>
        <a:lstStyle/>
        <a:p>
          <a:endParaRPr lang="en-IN" sz="1600" b="1">
            <a:solidFill>
              <a:schemeClr val="bg1"/>
            </a:solidFill>
          </a:endParaRPr>
        </a:p>
      </dgm:t>
    </dgm:pt>
    <dgm:pt modelId="{5F464A32-0F72-40C8-8C32-A95F564F772D}" type="pres">
      <dgm:prSet presAssocID="{46C3DA85-9752-4F4A-B8C9-3FCE746ACECB}" presName="cycle" presStyleCnt="0">
        <dgm:presLayoutVars>
          <dgm:dir/>
          <dgm:resizeHandles val="exact"/>
        </dgm:presLayoutVars>
      </dgm:prSet>
      <dgm:spPr/>
    </dgm:pt>
    <dgm:pt modelId="{8C0868C1-AA3E-40BC-A273-3106D74F18EB}" type="pres">
      <dgm:prSet presAssocID="{642D8388-4B0F-45B5-B676-3B865D7DD667}" presName="node" presStyleLbl="node1" presStyleIdx="0" presStyleCnt="7">
        <dgm:presLayoutVars>
          <dgm:bulletEnabled val="1"/>
        </dgm:presLayoutVars>
      </dgm:prSet>
      <dgm:spPr/>
    </dgm:pt>
    <dgm:pt modelId="{B17CA24C-55B8-437D-B583-2C9115F9811D}" type="pres">
      <dgm:prSet presAssocID="{E3D54E6C-CDCD-44A1-8BB4-94F870AE6A66}" presName="sibTrans" presStyleLbl="sibTrans2D1" presStyleIdx="0" presStyleCnt="7"/>
      <dgm:spPr/>
    </dgm:pt>
    <dgm:pt modelId="{F9108E6B-99AB-4E37-8EA7-D82B9769A8EF}" type="pres">
      <dgm:prSet presAssocID="{E3D54E6C-CDCD-44A1-8BB4-94F870AE6A66}" presName="connectorText" presStyleLbl="sibTrans2D1" presStyleIdx="0" presStyleCnt="7"/>
      <dgm:spPr/>
    </dgm:pt>
    <dgm:pt modelId="{46330E00-79F0-4AFF-9476-B66C82246FD0}" type="pres">
      <dgm:prSet presAssocID="{0F704928-8960-4347-894C-B9146C8A5ACB}" presName="node" presStyleLbl="node1" presStyleIdx="1" presStyleCnt="7">
        <dgm:presLayoutVars>
          <dgm:bulletEnabled val="1"/>
        </dgm:presLayoutVars>
      </dgm:prSet>
      <dgm:spPr/>
    </dgm:pt>
    <dgm:pt modelId="{FCB74DB4-8FA5-48B8-AC5F-9138CE4A287E}" type="pres">
      <dgm:prSet presAssocID="{A45B0AFA-63D9-46AA-9453-0E197393FB72}" presName="sibTrans" presStyleLbl="sibTrans2D1" presStyleIdx="1" presStyleCnt="7"/>
      <dgm:spPr/>
    </dgm:pt>
    <dgm:pt modelId="{F17650DD-9B49-4368-8D59-58F91A2F1B1A}" type="pres">
      <dgm:prSet presAssocID="{A45B0AFA-63D9-46AA-9453-0E197393FB72}" presName="connectorText" presStyleLbl="sibTrans2D1" presStyleIdx="1" presStyleCnt="7"/>
      <dgm:spPr/>
    </dgm:pt>
    <dgm:pt modelId="{B4433D69-A733-4CCC-90D9-9507B1BD4331}" type="pres">
      <dgm:prSet presAssocID="{FE92605E-FC8D-4DF9-9509-57ADE4CDEC20}" presName="node" presStyleLbl="node1" presStyleIdx="2" presStyleCnt="7">
        <dgm:presLayoutVars>
          <dgm:bulletEnabled val="1"/>
        </dgm:presLayoutVars>
      </dgm:prSet>
      <dgm:spPr/>
    </dgm:pt>
    <dgm:pt modelId="{784D2E14-26A7-49C6-A9DC-06DFC416296E}" type="pres">
      <dgm:prSet presAssocID="{5937D7C9-DD71-4A27-800A-E727B3B185C9}" presName="sibTrans" presStyleLbl="sibTrans2D1" presStyleIdx="2" presStyleCnt="7"/>
      <dgm:spPr/>
    </dgm:pt>
    <dgm:pt modelId="{5AC295FC-8E3E-4328-96C8-8E6F44A56EE3}" type="pres">
      <dgm:prSet presAssocID="{5937D7C9-DD71-4A27-800A-E727B3B185C9}" presName="connectorText" presStyleLbl="sibTrans2D1" presStyleIdx="2" presStyleCnt="7"/>
      <dgm:spPr/>
    </dgm:pt>
    <dgm:pt modelId="{CA16F64E-A8AE-43D8-AF83-7AE6F80E1DC5}" type="pres">
      <dgm:prSet presAssocID="{62ED3315-8BB1-4D04-9867-3DB9BE7474C3}" presName="node" presStyleLbl="node1" presStyleIdx="3" presStyleCnt="7">
        <dgm:presLayoutVars>
          <dgm:bulletEnabled val="1"/>
        </dgm:presLayoutVars>
      </dgm:prSet>
      <dgm:spPr/>
    </dgm:pt>
    <dgm:pt modelId="{4B09C022-E6A8-4E4F-BA36-2AC14F344F99}" type="pres">
      <dgm:prSet presAssocID="{5B6921D7-5FBC-492C-98C7-D2BD81514EF6}" presName="sibTrans" presStyleLbl="sibTrans2D1" presStyleIdx="3" presStyleCnt="7"/>
      <dgm:spPr/>
    </dgm:pt>
    <dgm:pt modelId="{B5CE1336-3335-4FC0-B785-98E5833826F8}" type="pres">
      <dgm:prSet presAssocID="{5B6921D7-5FBC-492C-98C7-D2BD81514EF6}" presName="connectorText" presStyleLbl="sibTrans2D1" presStyleIdx="3" presStyleCnt="7"/>
      <dgm:spPr/>
    </dgm:pt>
    <dgm:pt modelId="{742F4E8D-BBAD-467B-B88D-DA56E0F77E5A}" type="pres">
      <dgm:prSet presAssocID="{F3050FE9-2DFB-46AB-BD31-73830F6FE694}" presName="node" presStyleLbl="node1" presStyleIdx="4" presStyleCnt="7">
        <dgm:presLayoutVars>
          <dgm:bulletEnabled val="1"/>
        </dgm:presLayoutVars>
      </dgm:prSet>
      <dgm:spPr/>
    </dgm:pt>
    <dgm:pt modelId="{F88593AE-4FE3-4519-8A97-450F0660C4F8}" type="pres">
      <dgm:prSet presAssocID="{3DE84C74-796C-4DA5-934E-0D5E1DDE0C29}" presName="sibTrans" presStyleLbl="sibTrans2D1" presStyleIdx="4" presStyleCnt="7"/>
      <dgm:spPr/>
    </dgm:pt>
    <dgm:pt modelId="{E7CAD882-53E1-4CE3-918B-F5FDB703ADBE}" type="pres">
      <dgm:prSet presAssocID="{3DE84C74-796C-4DA5-934E-0D5E1DDE0C29}" presName="connectorText" presStyleLbl="sibTrans2D1" presStyleIdx="4" presStyleCnt="7"/>
      <dgm:spPr/>
    </dgm:pt>
    <dgm:pt modelId="{F7CD91B7-1F0D-4265-B286-50A5F4B1B5B0}" type="pres">
      <dgm:prSet presAssocID="{107EBBCA-D24E-4BCE-B031-B33312556A4C}" presName="node" presStyleLbl="node1" presStyleIdx="5" presStyleCnt="7">
        <dgm:presLayoutVars>
          <dgm:bulletEnabled val="1"/>
        </dgm:presLayoutVars>
      </dgm:prSet>
      <dgm:spPr/>
    </dgm:pt>
    <dgm:pt modelId="{16BBF225-13A5-4FDA-9E45-12943F74F5CC}" type="pres">
      <dgm:prSet presAssocID="{31380250-F733-4630-BBCD-6A5788CB93CB}" presName="sibTrans" presStyleLbl="sibTrans2D1" presStyleIdx="5" presStyleCnt="7"/>
      <dgm:spPr/>
    </dgm:pt>
    <dgm:pt modelId="{C87C59CA-07EB-42B7-8BEC-0B6C6796871D}" type="pres">
      <dgm:prSet presAssocID="{31380250-F733-4630-BBCD-6A5788CB93CB}" presName="connectorText" presStyleLbl="sibTrans2D1" presStyleIdx="5" presStyleCnt="7"/>
      <dgm:spPr/>
    </dgm:pt>
    <dgm:pt modelId="{6A6E938B-3AD0-4B51-A94C-6750B819A1E8}" type="pres">
      <dgm:prSet presAssocID="{7F2A6082-9261-4FC6-BE43-F9AC9444CE99}" presName="node" presStyleLbl="node1" presStyleIdx="6" presStyleCnt="7">
        <dgm:presLayoutVars>
          <dgm:bulletEnabled val="1"/>
        </dgm:presLayoutVars>
      </dgm:prSet>
      <dgm:spPr/>
    </dgm:pt>
    <dgm:pt modelId="{9532BBBE-CFC5-4AB2-ABF5-07478C62D071}" type="pres">
      <dgm:prSet presAssocID="{C0BE54E6-C5F8-4D33-A8D4-34EAA0F38C98}" presName="sibTrans" presStyleLbl="sibTrans2D1" presStyleIdx="6" presStyleCnt="7"/>
      <dgm:spPr/>
    </dgm:pt>
    <dgm:pt modelId="{3BCB0186-441C-432E-BD2C-40BAECDDDCD2}" type="pres">
      <dgm:prSet presAssocID="{C0BE54E6-C5F8-4D33-A8D4-34EAA0F38C98}" presName="connectorText" presStyleLbl="sibTrans2D1" presStyleIdx="6" presStyleCnt="7"/>
      <dgm:spPr/>
    </dgm:pt>
  </dgm:ptLst>
  <dgm:cxnLst>
    <dgm:cxn modelId="{CC37780D-FB52-4FDE-B4C3-03BFB08FD716}" type="presOf" srcId="{0F704928-8960-4347-894C-B9146C8A5ACB}" destId="{46330E00-79F0-4AFF-9476-B66C82246FD0}" srcOrd="0" destOrd="0" presId="urn:microsoft.com/office/officeart/2005/8/layout/cycle2"/>
    <dgm:cxn modelId="{E92DA70D-4A43-48BF-8F68-A5D364F12974}" type="presOf" srcId="{5B6921D7-5FBC-492C-98C7-D2BD81514EF6}" destId="{4B09C022-E6A8-4E4F-BA36-2AC14F344F99}" srcOrd="0" destOrd="0" presId="urn:microsoft.com/office/officeart/2005/8/layout/cycle2"/>
    <dgm:cxn modelId="{12AB2111-6B7F-46E4-8766-81AFE227E48B}" type="presOf" srcId="{7F2A6082-9261-4FC6-BE43-F9AC9444CE99}" destId="{6A6E938B-3AD0-4B51-A94C-6750B819A1E8}" srcOrd="0" destOrd="0" presId="urn:microsoft.com/office/officeart/2005/8/layout/cycle2"/>
    <dgm:cxn modelId="{67596239-48DD-4284-B0EB-50D000D80075}" type="presOf" srcId="{46C3DA85-9752-4F4A-B8C9-3FCE746ACECB}" destId="{5F464A32-0F72-40C8-8C32-A95F564F772D}" srcOrd="0" destOrd="0" presId="urn:microsoft.com/office/officeart/2005/8/layout/cycle2"/>
    <dgm:cxn modelId="{BA38F96E-C183-408C-A4EF-DAC6CA3DFEBA}" type="presOf" srcId="{31380250-F733-4630-BBCD-6A5788CB93CB}" destId="{C87C59CA-07EB-42B7-8BEC-0B6C6796871D}" srcOrd="1" destOrd="0" presId="urn:microsoft.com/office/officeart/2005/8/layout/cycle2"/>
    <dgm:cxn modelId="{AA303B56-4831-4D24-8F3D-4E6DEF2223BD}" srcId="{46C3DA85-9752-4F4A-B8C9-3FCE746ACECB}" destId="{F3050FE9-2DFB-46AB-BD31-73830F6FE694}" srcOrd="4" destOrd="0" parTransId="{D3F2704E-4953-4808-8D61-E419EB561D88}" sibTransId="{3DE84C74-796C-4DA5-934E-0D5E1DDE0C29}"/>
    <dgm:cxn modelId="{50997078-A190-4EEC-8F34-FD5CAFCFFAD0}" srcId="{46C3DA85-9752-4F4A-B8C9-3FCE746ACECB}" destId="{642D8388-4B0F-45B5-B676-3B865D7DD667}" srcOrd="0" destOrd="0" parTransId="{CB1827FD-A04E-40A6-BF58-1EABB18D8C9A}" sibTransId="{E3D54E6C-CDCD-44A1-8BB4-94F870AE6A66}"/>
    <dgm:cxn modelId="{E7817285-E4F3-4816-B24C-BEDB4087A591}" type="presOf" srcId="{F3050FE9-2DFB-46AB-BD31-73830F6FE694}" destId="{742F4E8D-BBAD-467B-B88D-DA56E0F77E5A}" srcOrd="0" destOrd="0" presId="urn:microsoft.com/office/officeart/2005/8/layout/cycle2"/>
    <dgm:cxn modelId="{AE005D8E-D500-4603-B1DE-96ADC0A4713F}" type="presOf" srcId="{3DE84C74-796C-4DA5-934E-0D5E1DDE0C29}" destId="{F88593AE-4FE3-4519-8A97-450F0660C4F8}" srcOrd="0" destOrd="0" presId="urn:microsoft.com/office/officeart/2005/8/layout/cycle2"/>
    <dgm:cxn modelId="{EB620FA2-9D81-49A1-B6C6-D76BFF37C219}" type="presOf" srcId="{FE92605E-FC8D-4DF9-9509-57ADE4CDEC20}" destId="{B4433D69-A733-4CCC-90D9-9507B1BD4331}" srcOrd="0" destOrd="0" presId="urn:microsoft.com/office/officeart/2005/8/layout/cycle2"/>
    <dgm:cxn modelId="{5B560AA4-CCA9-424B-BCCD-18D9FAF7ABF4}" type="presOf" srcId="{107EBBCA-D24E-4BCE-B031-B33312556A4C}" destId="{F7CD91B7-1F0D-4265-B286-50A5F4B1B5B0}" srcOrd="0" destOrd="0" presId="urn:microsoft.com/office/officeart/2005/8/layout/cycle2"/>
    <dgm:cxn modelId="{90CF5CA4-F5D1-4696-BCEE-845E5E835AF6}" type="presOf" srcId="{642D8388-4B0F-45B5-B676-3B865D7DD667}" destId="{8C0868C1-AA3E-40BC-A273-3106D74F18EB}" srcOrd="0" destOrd="0" presId="urn:microsoft.com/office/officeart/2005/8/layout/cycle2"/>
    <dgm:cxn modelId="{B18292A8-C45F-45DD-A55D-BD00D000994E}" type="presOf" srcId="{E3D54E6C-CDCD-44A1-8BB4-94F870AE6A66}" destId="{B17CA24C-55B8-437D-B583-2C9115F9811D}" srcOrd="0" destOrd="0" presId="urn:microsoft.com/office/officeart/2005/8/layout/cycle2"/>
    <dgm:cxn modelId="{852CF2A8-5ACB-4E78-B12E-AE574F646004}" type="presOf" srcId="{5937D7C9-DD71-4A27-800A-E727B3B185C9}" destId="{784D2E14-26A7-49C6-A9DC-06DFC416296E}" srcOrd="0" destOrd="0" presId="urn:microsoft.com/office/officeart/2005/8/layout/cycle2"/>
    <dgm:cxn modelId="{743B79B1-1975-4F2A-A341-05528F4E2522}" srcId="{46C3DA85-9752-4F4A-B8C9-3FCE746ACECB}" destId="{7F2A6082-9261-4FC6-BE43-F9AC9444CE99}" srcOrd="6" destOrd="0" parTransId="{58B9D24D-382F-4D3D-AC92-AE4C2D3A3B43}" sibTransId="{C0BE54E6-C5F8-4D33-A8D4-34EAA0F38C98}"/>
    <dgm:cxn modelId="{89219ABA-5670-4C66-A94B-BAE7EEFD4157}" srcId="{46C3DA85-9752-4F4A-B8C9-3FCE746ACECB}" destId="{FE92605E-FC8D-4DF9-9509-57ADE4CDEC20}" srcOrd="2" destOrd="0" parTransId="{EC600DA3-CE69-4671-A0F5-8AFF80C410EB}" sibTransId="{5937D7C9-DD71-4A27-800A-E727B3B185C9}"/>
    <dgm:cxn modelId="{94A0EABF-B413-43FE-B5E8-3D830AD91098}" type="presOf" srcId="{A45B0AFA-63D9-46AA-9453-0E197393FB72}" destId="{F17650DD-9B49-4368-8D59-58F91A2F1B1A}" srcOrd="1" destOrd="0" presId="urn:microsoft.com/office/officeart/2005/8/layout/cycle2"/>
    <dgm:cxn modelId="{22B68BC0-EC75-47BC-A896-882B8D998329}" type="presOf" srcId="{C0BE54E6-C5F8-4D33-A8D4-34EAA0F38C98}" destId="{9532BBBE-CFC5-4AB2-ABF5-07478C62D071}" srcOrd="0" destOrd="0" presId="urn:microsoft.com/office/officeart/2005/8/layout/cycle2"/>
    <dgm:cxn modelId="{F9FE3EC9-E8D2-4608-804D-9BA3183D2545}" type="presOf" srcId="{E3D54E6C-CDCD-44A1-8BB4-94F870AE6A66}" destId="{F9108E6B-99AB-4E37-8EA7-D82B9769A8EF}" srcOrd="1" destOrd="0" presId="urn:microsoft.com/office/officeart/2005/8/layout/cycle2"/>
    <dgm:cxn modelId="{E83375CA-E372-46E7-9F3C-FEF4BC654CA1}" type="presOf" srcId="{31380250-F733-4630-BBCD-6A5788CB93CB}" destId="{16BBF225-13A5-4FDA-9E45-12943F74F5CC}" srcOrd="0" destOrd="0" presId="urn:microsoft.com/office/officeart/2005/8/layout/cycle2"/>
    <dgm:cxn modelId="{4FBA37CE-A90F-47CD-9F88-722C59A267E5}" type="presOf" srcId="{62ED3315-8BB1-4D04-9867-3DB9BE7474C3}" destId="{CA16F64E-A8AE-43D8-AF83-7AE6F80E1DC5}" srcOrd="0" destOrd="0" presId="urn:microsoft.com/office/officeart/2005/8/layout/cycle2"/>
    <dgm:cxn modelId="{CEAC70CF-4F43-4C32-B007-57C846392A54}" type="presOf" srcId="{5B6921D7-5FBC-492C-98C7-D2BD81514EF6}" destId="{B5CE1336-3335-4FC0-B785-98E5833826F8}" srcOrd="1" destOrd="0" presId="urn:microsoft.com/office/officeart/2005/8/layout/cycle2"/>
    <dgm:cxn modelId="{A42E2CD8-3104-40E4-BB1A-1C365F22A2FE}" type="presOf" srcId="{5937D7C9-DD71-4A27-800A-E727B3B185C9}" destId="{5AC295FC-8E3E-4328-96C8-8E6F44A56EE3}" srcOrd="1" destOrd="0" presId="urn:microsoft.com/office/officeart/2005/8/layout/cycle2"/>
    <dgm:cxn modelId="{443C72DA-D65D-43BB-9CCF-CC851D117C48}" type="presOf" srcId="{C0BE54E6-C5F8-4D33-A8D4-34EAA0F38C98}" destId="{3BCB0186-441C-432E-BD2C-40BAECDDDCD2}" srcOrd="1" destOrd="0" presId="urn:microsoft.com/office/officeart/2005/8/layout/cycle2"/>
    <dgm:cxn modelId="{ED462BE3-68F1-4626-A8F6-E203B35F8FB8}" type="presOf" srcId="{3DE84C74-796C-4DA5-934E-0D5E1DDE0C29}" destId="{E7CAD882-53E1-4CE3-918B-F5FDB703ADBE}" srcOrd="1" destOrd="0" presId="urn:microsoft.com/office/officeart/2005/8/layout/cycle2"/>
    <dgm:cxn modelId="{263C2EE5-76B5-4810-A03E-99D3232E6CA8}" srcId="{46C3DA85-9752-4F4A-B8C9-3FCE746ACECB}" destId="{62ED3315-8BB1-4D04-9867-3DB9BE7474C3}" srcOrd="3" destOrd="0" parTransId="{0BC960CA-0727-4289-8292-CADFCCA9A803}" sibTransId="{5B6921D7-5FBC-492C-98C7-D2BD81514EF6}"/>
    <dgm:cxn modelId="{92A015F3-8D7B-4AC1-9649-9EA05FE69291}" srcId="{46C3DA85-9752-4F4A-B8C9-3FCE746ACECB}" destId="{107EBBCA-D24E-4BCE-B031-B33312556A4C}" srcOrd="5" destOrd="0" parTransId="{D230A687-AE05-4464-9104-A5104D0A7ED7}" sibTransId="{31380250-F733-4630-BBCD-6A5788CB93CB}"/>
    <dgm:cxn modelId="{8E8080F9-E4F7-40A3-9312-B13FBEDEA57F}" srcId="{46C3DA85-9752-4F4A-B8C9-3FCE746ACECB}" destId="{0F704928-8960-4347-894C-B9146C8A5ACB}" srcOrd="1" destOrd="0" parTransId="{F81E6F81-FB2E-4829-B5A5-BB823535CF69}" sibTransId="{A45B0AFA-63D9-46AA-9453-0E197393FB72}"/>
    <dgm:cxn modelId="{429093FA-6D12-425F-8BA8-1B5CEABB4618}" type="presOf" srcId="{A45B0AFA-63D9-46AA-9453-0E197393FB72}" destId="{FCB74DB4-8FA5-48B8-AC5F-9138CE4A287E}" srcOrd="0" destOrd="0" presId="urn:microsoft.com/office/officeart/2005/8/layout/cycle2"/>
    <dgm:cxn modelId="{D5204107-7F79-42ED-8387-F2E877B4B4B3}" type="presParOf" srcId="{5F464A32-0F72-40C8-8C32-A95F564F772D}" destId="{8C0868C1-AA3E-40BC-A273-3106D74F18EB}" srcOrd="0" destOrd="0" presId="urn:microsoft.com/office/officeart/2005/8/layout/cycle2"/>
    <dgm:cxn modelId="{42E5BE11-173B-4D5D-A064-E4FA2EA0E70C}" type="presParOf" srcId="{5F464A32-0F72-40C8-8C32-A95F564F772D}" destId="{B17CA24C-55B8-437D-B583-2C9115F9811D}" srcOrd="1" destOrd="0" presId="urn:microsoft.com/office/officeart/2005/8/layout/cycle2"/>
    <dgm:cxn modelId="{F9BDC6D4-39B8-4BA9-8766-FF50ABDB2C86}" type="presParOf" srcId="{B17CA24C-55B8-437D-B583-2C9115F9811D}" destId="{F9108E6B-99AB-4E37-8EA7-D82B9769A8EF}" srcOrd="0" destOrd="0" presId="urn:microsoft.com/office/officeart/2005/8/layout/cycle2"/>
    <dgm:cxn modelId="{CBA4CE1A-52D0-4FF4-8D09-102B6FE66865}" type="presParOf" srcId="{5F464A32-0F72-40C8-8C32-A95F564F772D}" destId="{46330E00-79F0-4AFF-9476-B66C82246FD0}" srcOrd="2" destOrd="0" presId="urn:microsoft.com/office/officeart/2005/8/layout/cycle2"/>
    <dgm:cxn modelId="{7AA2A054-BD59-4C99-A748-0BCB22DAA1DD}" type="presParOf" srcId="{5F464A32-0F72-40C8-8C32-A95F564F772D}" destId="{FCB74DB4-8FA5-48B8-AC5F-9138CE4A287E}" srcOrd="3" destOrd="0" presId="urn:microsoft.com/office/officeart/2005/8/layout/cycle2"/>
    <dgm:cxn modelId="{64B963C7-059D-46D5-A8EC-55B3F32FB7F3}" type="presParOf" srcId="{FCB74DB4-8FA5-48B8-AC5F-9138CE4A287E}" destId="{F17650DD-9B49-4368-8D59-58F91A2F1B1A}" srcOrd="0" destOrd="0" presId="urn:microsoft.com/office/officeart/2005/8/layout/cycle2"/>
    <dgm:cxn modelId="{1189E81D-CC34-42F8-88D2-6FF711152CBF}" type="presParOf" srcId="{5F464A32-0F72-40C8-8C32-A95F564F772D}" destId="{B4433D69-A733-4CCC-90D9-9507B1BD4331}" srcOrd="4" destOrd="0" presId="urn:microsoft.com/office/officeart/2005/8/layout/cycle2"/>
    <dgm:cxn modelId="{E9D27F88-97D4-469B-95CA-94ABB17A096E}" type="presParOf" srcId="{5F464A32-0F72-40C8-8C32-A95F564F772D}" destId="{784D2E14-26A7-49C6-A9DC-06DFC416296E}" srcOrd="5" destOrd="0" presId="urn:microsoft.com/office/officeart/2005/8/layout/cycle2"/>
    <dgm:cxn modelId="{80972711-1AED-4C34-9B3E-8FF78701618C}" type="presParOf" srcId="{784D2E14-26A7-49C6-A9DC-06DFC416296E}" destId="{5AC295FC-8E3E-4328-96C8-8E6F44A56EE3}" srcOrd="0" destOrd="0" presId="urn:microsoft.com/office/officeart/2005/8/layout/cycle2"/>
    <dgm:cxn modelId="{64E8188D-F24D-4D96-9DB5-23D10ED2F0CC}" type="presParOf" srcId="{5F464A32-0F72-40C8-8C32-A95F564F772D}" destId="{CA16F64E-A8AE-43D8-AF83-7AE6F80E1DC5}" srcOrd="6" destOrd="0" presId="urn:microsoft.com/office/officeart/2005/8/layout/cycle2"/>
    <dgm:cxn modelId="{67A3C0B2-A189-40A6-A6D3-E132AD740206}" type="presParOf" srcId="{5F464A32-0F72-40C8-8C32-A95F564F772D}" destId="{4B09C022-E6A8-4E4F-BA36-2AC14F344F99}" srcOrd="7" destOrd="0" presId="urn:microsoft.com/office/officeart/2005/8/layout/cycle2"/>
    <dgm:cxn modelId="{8218489F-33C6-4D5F-B7DF-357171870CFD}" type="presParOf" srcId="{4B09C022-E6A8-4E4F-BA36-2AC14F344F99}" destId="{B5CE1336-3335-4FC0-B785-98E5833826F8}" srcOrd="0" destOrd="0" presId="urn:microsoft.com/office/officeart/2005/8/layout/cycle2"/>
    <dgm:cxn modelId="{BC65A957-2DCE-4B78-AB5A-2FE4EAFF4CB5}" type="presParOf" srcId="{5F464A32-0F72-40C8-8C32-A95F564F772D}" destId="{742F4E8D-BBAD-467B-B88D-DA56E0F77E5A}" srcOrd="8" destOrd="0" presId="urn:microsoft.com/office/officeart/2005/8/layout/cycle2"/>
    <dgm:cxn modelId="{49E5A930-8058-45AD-8CD7-2E2004830A5B}" type="presParOf" srcId="{5F464A32-0F72-40C8-8C32-A95F564F772D}" destId="{F88593AE-4FE3-4519-8A97-450F0660C4F8}" srcOrd="9" destOrd="0" presId="urn:microsoft.com/office/officeart/2005/8/layout/cycle2"/>
    <dgm:cxn modelId="{B3EDC7AF-2D40-4735-B907-22AFC57F3F19}" type="presParOf" srcId="{F88593AE-4FE3-4519-8A97-450F0660C4F8}" destId="{E7CAD882-53E1-4CE3-918B-F5FDB703ADBE}" srcOrd="0" destOrd="0" presId="urn:microsoft.com/office/officeart/2005/8/layout/cycle2"/>
    <dgm:cxn modelId="{4646958A-8EDB-4E04-B6A3-28F693CDA314}" type="presParOf" srcId="{5F464A32-0F72-40C8-8C32-A95F564F772D}" destId="{F7CD91B7-1F0D-4265-B286-50A5F4B1B5B0}" srcOrd="10" destOrd="0" presId="urn:microsoft.com/office/officeart/2005/8/layout/cycle2"/>
    <dgm:cxn modelId="{3BADD83C-2572-4965-9A15-983ED1C95C81}" type="presParOf" srcId="{5F464A32-0F72-40C8-8C32-A95F564F772D}" destId="{16BBF225-13A5-4FDA-9E45-12943F74F5CC}" srcOrd="11" destOrd="0" presId="urn:microsoft.com/office/officeart/2005/8/layout/cycle2"/>
    <dgm:cxn modelId="{966620A5-ACE8-4F39-BDB6-6F59756729EE}" type="presParOf" srcId="{16BBF225-13A5-4FDA-9E45-12943F74F5CC}" destId="{C87C59CA-07EB-42B7-8BEC-0B6C6796871D}" srcOrd="0" destOrd="0" presId="urn:microsoft.com/office/officeart/2005/8/layout/cycle2"/>
    <dgm:cxn modelId="{7B963689-7824-4415-ADAE-F4C4E36E7558}" type="presParOf" srcId="{5F464A32-0F72-40C8-8C32-A95F564F772D}" destId="{6A6E938B-3AD0-4B51-A94C-6750B819A1E8}" srcOrd="12" destOrd="0" presId="urn:microsoft.com/office/officeart/2005/8/layout/cycle2"/>
    <dgm:cxn modelId="{D9717E8A-D5BF-4EEF-B691-C525F950E5FE}" type="presParOf" srcId="{5F464A32-0F72-40C8-8C32-A95F564F772D}" destId="{9532BBBE-CFC5-4AB2-ABF5-07478C62D071}" srcOrd="13" destOrd="0" presId="urn:microsoft.com/office/officeart/2005/8/layout/cycle2"/>
    <dgm:cxn modelId="{BE07B7F3-71B7-481E-B060-DC5E2B551B72}" type="presParOf" srcId="{9532BBBE-CFC5-4AB2-ABF5-07478C62D071}" destId="{3BCB0186-441C-432E-BD2C-40BAECDDDCD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868C1-AA3E-40BC-A273-3106D74F18EB}">
      <dsp:nvSpPr>
        <dsp:cNvPr id="0" name=""/>
        <dsp:cNvSpPr/>
      </dsp:nvSpPr>
      <dsp:spPr>
        <a:xfrm>
          <a:off x="3432968" y="215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bg1"/>
              </a:solidFill>
            </a:rPr>
            <a:t>After 10pm </a:t>
          </a:r>
          <a:endParaRPr lang="en-IN" sz="2400" b="1" kern="1200" dirty="0">
            <a:solidFill>
              <a:schemeClr val="bg1"/>
            </a:solidFill>
          </a:endParaRPr>
        </a:p>
      </dsp:txBody>
      <dsp:txXfrm>
        <a:off x="3617793" y="185040"/>
        <a:ext cx="892412" cy="892412"/>
      </dsp:txXfrm>
    </dsp:sp>
    <dsp:sp modelId="{B17CA24C-55B8-437D-B583-2C9115F9811D}">
      <dsp:nvSpPr>
        <dsp:cNvPr id="0" name=""/>
        <dsp:cNvSpPr/>
      </dsp:nvSpPr>
      <dsp:spPr>
        <a:xfrm rot="1542857">
          <a:off x="4741770" y="825730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>
        <a:off x="4746771" y="889009"/>
        <a:ext cx="235650" cy="255568"/>
      </dsp:txXfrm>
    </dsp:sp>
    <dsp:sp modelId="{46330E00-79F0-4AFF-9476-B66C82246FD0}">
      <dsp:nvSpPr>
        <dsp:cNvPr id="0" name=""/>
        <dsp:cNvSpPr/>
      </dsp:nvSpPr>
      <dsp:spPr>
        <a:xfrm>
          <a:off x="5142322" y="823396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i="0" kern="1200" dirty="0">
              <a:solidFill>
                <a:schemeClr val="bg1"/>
              </a:solidFill>
              <a:latin typeface="Calibri"/>
            </a:rPr>
            <a:t>½ page</a:t>
          </a:r>
          <a:endParaRPr lang="en-IN" sz="2800" b="1" kern="1200" dirty="0">
            <a:solidFill>
              <a:schemeClr val="bg1"/>
            </a:solidFill>
          </a:endParaRPr>
        </a:p>
      </dsp:txBody>
      <dsp:txXfrm>
        <a:off x="5327147" y="1008221"/>
        <a:ext cx="892412" cy="892412"/>
      </dsp:txXfrm>
    </dsp:sp>
    <dsp:sp modelId="{FCB74DB4-8FA5-48B8-AC5F-9138CE4A287E}">
      <dsp:nvSpPr>
        <dsp:cNvPr id="0" name=""/>
        <dsp:cNvSpPr/>
      </dsp:nvSpPr>
      <dsp:spPr>
        <a:xfrm rot="4628571">
          <a:off x="5813999" y="2157001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>
        <a:off x="5853259" y="2192960"/>
        <a:ext cx="235650" cy="255568"/>
      </dsp:txXfrm>
    </dsp:sp>
    <dsp:sp modelId="{B4433D69-A733-4CCC-90D9-9507B1BD4331}">
      <dsp:nvSpPr>
        <dsp:cNvPr id="0" name=""/>
        <dsp:cNvSpPr/>
      </dsp:nvSpPr>
      <dsp:spPr>
        <a:xfrm>
          <a:off x="5564497" y="2673067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 dirty="0">
              <a:solidFill>
                <a:schemeClr val="bg1"/>
              </a:solidFill>
              <a:latin typeface="Calibri"/>
            </a:rPr>
            <a:t>0 person in legal</a:t>
          </a:r>
          <a:endParaRPr lang="en-IN" sz="2000" b="1" kern="1200" dirty="0">
            <a:solidFill>
              <a:schemeClr val="bg1"/>
            </a:solidFill>
          </a:endParaRPr>
        </a:p>
      </dsp:txBody>
      <dsp:txXfrm>
        <a:off x="5749322" y="2857892"/>
        <a:ext cx="892412" cy="892412"/>
      </dsp:txXfrm>
    </dsp:sp>
    <dsp:sp modelId="{784D2E14-26A7-49C6-A9DC-06DFC416296E}">
      <dsp:nvSpPr>
        <dsp:cNvPr id="0" name=""/>
        <dsp:cNvSpPr/>
      </dsp:nvSpPr>
      <dsp:spPr>
        <a:xfrm rot="7714286">
          <a:off x="5441692" y="3825337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 rot="10800000">
        <a:off x="5523673" y="3871046"/>
        <a:ext cx="235650" cy="255568"/>
      </dsp:txXfrm>
    </dsp:sp>
    <dsp:sp modelId="{CA16F64E-A8AE-43D8-AF83-7AE6F80E1DC5}">
      <dsp:nvSpPr>
        <dsp:cNvPr id="0" name=""/>
        <dsp:cNvSpPr/>
      </dsp:nvSpPr>
      <dsp:spPr>
        <a:xfrm>
          <a:off x="4381588" y="4156389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Brightwater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Losses </a:t>
          </a:r>
          <a:endParaRPr lang="en-IN" sz="1800" b="1" kern="1200" dirty="0">
            <a:solidFill>
              <a:schemeClr val="bg1"/>
            </a:solidFill>
          </a:endParaRPr>
        </a:p>
      </dsp:txBody>
      <dsp:txXfrm>
        <a:off x="4566413" y="4341214"/>
        <a:ext cx="892412" cy="892412"/>
      </dsp:txXfrm>
    </dsp:sp>
    <dsp:sp modelId="{4B09C022-E6A8-4E4F-BA36-2AC14F344F99}">
      <dsp:nvSpPr>
        <dsp:cNvPr id="0" name=""/>
        <dsp:cNvSpPr/>
      </dsp:nvSpPr>
      <dsp:spPr>
        <a:xfrm rot="10800000">
          <a:off x="3905205" y="4574447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 rot="10800000">
        <a:off x="4006198" y="4659636"/>
        <a:ext cx="235650" cy="255568"/>
      </dsp:txXfrm>
    </dsp:sp>
    <dsp:sp modelId="{742F4E8D-BBAD-467B-B88D-DA56E0F77E5A}">
      <dsp:nvSpPr>
        <dsp:cNvPr id="0" name=""/>
        <dsp:cNvSpPr/>
      </dsp:nvSpPr>
      <dsp:spPr>
        <a:xfrm>
          <a:off x="2484349" y="4156389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>
              <a:solidFill>
                <a:schemeClr val="bg1"/>
              </a:solidFill>
              <a:latin typeface="Calibri"/>
            </a:rPr>
            <a:t>3–4 hrs</a:t>
          </a:r>
          <a:endParaRPr lang="en-IN" sz="1800" b="1" kern="1200" dirty="0">
            <a:solidFill>
              <a:schemeClr val="bg1"/>
            </a:solidFill>
          </a:endParaRPr>
        </a:p>
      </dsp:txBody>
      <dsp:txXfrm>
        <a:off x="2669174" y="4341214"/>
        <a:ext cx="892412" cy="892412"/>
      </dsp:txXfrm>
    </dsp:sp>
    <dsp:sp modelId="{F88593AE-4FE3-4519-8A97-450F0660C4F8}">
      <dsp:nvSpPr>
        <dsp:cNvPr id="0" name=""/>
        <dsp:cNvSpPr/>
      </dsp:nvSpPr>
      <dsp:spPr>
        <a:xfrm rot="13885714">
          <a:off x="2361544" y="3840235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 rot="10800000">
        <a:off x="2443525" y="3964904"/>
        <a:ext cx="235650" cy="255568"/>
      </dsp:txXfrm>
    </dsp:sp>
    <dsp:sp modelId="{F7CD91B7-1F0D-4265-B286-50A5F4B1B5B0}">
      <dsp:nvSpPr>
        <dsp:cNvPr id="0" name=""/>
        <dsp:cNvSpPr/>
      </dsp:nvSpPr>
      <dsp:spPr>
        <a:xfrm>
          <a:off x="1301440" y="2673067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700K deals(15 deals in queue)</a:t>
          </a:r>
          <a:endParaRPr lang="en-IN" sz="1800" b="1" kern="1200" dirty="0">
            <a:solidFill>
              <a:schemeClr val="bg1"/>
            </a:solidFill>
          </a:endParaRPr>
        </a:p>
      </dsp:txBody>
      <dsp:txXfrm>
        <a:off x="1486265" y="2857892"/>
        <a:ext cx="892412" cy="892412"/>
      </dsp:txXfrm>
    </dsp:sp>
    <dsp:sp modelId="{16BBF225-13A5-4FDA-9E45-12943F74F5CC}">
      <dsp:nvSpPr>
        <dsp:cNvPr id="0" name=""/>
        <dsp:cNvSpPr/>
      </dsp:nvSpPr>
      <dsp:spPr>
        <a:xfrm rot="16971429">
          <a:off x="1973117" y="2175579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>
        <a:off x="2012377" y="2309998"/>
        <a:ext cx="235650" cy="255568"/>
      </dsp:txXfrm>
    </dsp:sp>
    <dsp:sp modelId="{6A6E938B-3AD0-4B51-A94C-6750B819A1E8}">
      <dsp:nvSpPr>
        <dsp:cNvPr id="0" name=""/>
        <dsp:cNvSpPr/>
      </dsp:nvSpPr>
      <dsp:spPr>
        <a:xfrm>
          <a:off x="1723615" y="823396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/>
              </a:solidFill>
            </a:rPr>
            <a:t>Review Queue</a:t>
          </a:r>
          <a:endParaRPr lang="en-IN" sz="1800" b="1" kern="1200" dirty="0">
            <a:solidFill>
              <a:schemeClr val="bg1"/>
            </a:solidFill>
          </a:endParaRPr>
        </a:p>
      </dsp:txBody>
      <dsp:txXfrm>
        <a:off x="1908440" y="1008221"/>
        <a:ext cx="892412" cy="892412"/>
      </dsp:txXfrm>
    </dsp:sp>
    <dsp:sp modelId="{9532BBBE-CFC5-4AB2-ABF5-07478C62D071}">
      <dsp:nvSpPr>
        <dsp:cNvPr id="0" name=""/>
        <dsp:cNvSpPr/>
      </dsp:nvSpPr>
      <dsp:spPr>
        <a:xfrm rot="20057143">
          <a:off x="3032417" y="833998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>
        <a:off x="3037418" y="941097"/>
        <a:ext cx="235650" cy="2555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868C1-AA3E-40BC-A273-3106D74F18EB}">
      <dsp:nvSpPr>
        <dsp:cNvPr id="0" name=""/>
        <dsp:cNvSpPr/>
      </dsp:nvSpPr>
      <dsp:spPr>
        <a:xfrm>
          <a:off x="3432968" y="215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After 10pm 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to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chemeClr val="bg1"/>
              </a:solidFill>
              <a:highlight>
                <a:srgbClr val="008000"/>
              </a:highlight>
            </a:rPr>
            <a:t>To same day signoff</a:t>
          </a:r>
        </a:p>
      </dsp:txBody>
      <dsp:txXfrm>
        <a:off x="3617793" y="185040"/>
        <a:ext cx="892412" cy="892412"/>
      </dsp:txXfrm>
    </dsp:sp>
    <dsp:sp modelId="{B17CA24C-55B8-437D-B583-2C9115F9811D}">
      <dsp:nvSpPr>
        <dsp:cNvPr id="0" name=""/>
        <dsp:cNvSpPr/>
      </dsp:nvSpPr>
      <dsp:spPr>
        <a:xfrm rot="1542857">
          <a:off x="4741770" y="825730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>
        <a:off x="4746771" y="889009"/>
        <a:ext cx="235650" cy="255568"/>
      </dsp:txXfrm>
    </dsp:sp>
    <dsp:sp modelId="{46330E00-79F0-4AFF-9476-B66C82246FD0}">
      <dsp:nvSpPr>
        <dsp:cNvPr id="0" name=""/>
        <dsp:cNvSpPr/>
      </dsp:nvSpPr>
      <dsp:spPr>
        <a:xfrm>
          <a:off x="5142322" y="823396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>
              <a:solidFill>
                <a:schemeClr val="bg1"/>
              </a:solidFill>
              <a:latin typeface="Calibri"/>
            </a:rPr>
            <a:t>½ page to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>
              <a:solidFill>
                <a:schemeClr val="bg1"/>
              </a:solidFill>
              <a:latin typeface="Calibri"/>
            </a:rPr>
            <a:t>to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>
              <a:solidFill>
                <a:schemeClr val="bg1"/>
              </a:solidFill>
              <a:latin typeface="Calibri"/>
            </a:rPr>
            <a:t> </a:t>
          </a:r>
          <a:r>
            <a:rPr lang="en-IN" sz="1200" b="1" i="0" kern="1200" dirty="0">
              <a:solidFill>
                <a:schemeClr val="bg1"/>
              </a:solidFill>
              <a:highlight>
                <a:srgbClr val="008000"/>
              </a:highlight>
              <a:latin typeface="Calibri"/>
            </a:rPr>
            <a:t>full contract and updated checklist</a:t>
          </a:r>
          <a:endParaRPr lang="en-IN" sz="1200" b="1" kern="1200" dirty="0">
            <a:solidFill>
              <a:schemeClr val="bg1"/>
            </a:solidFill>
            <a:highlight>
              <a:srgbClr val="008000"/>
            </a:highlight>
          </a:endParaRPr>
        </a:p>
      </dsp:txBody>
      <dsp:txXfrm>
        <a:off x="5327147" y="1008221"/>
        <a:ext cx="892412" cy="892412"/>
      </dsp:txXfrm>
    </dsp:sp>
    <dsp:sp modelId="{FCB74DB4-8FA5-48B8-AC5F-9138CE4A287E}">
      <dsp:nvSpPr>
        <dsp:cNvPr id="0" name=""/>
        <dsp:cNvSpPr/>
      </dsp:nvSpPr>
      <dsp:spPr>
        <a:xfrm rot="4628571">
          <a:off x="5813999" y="2157001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>
        <a:off x="5853259" y="2192960"/>
        <a:ext cx="235650" cy="255568"/>
      </dsp:txXfrm>
    </dsp:sp>
    <dsp:sp modelId="{B4433D69-A733-4CCC-90D9-9507B1BD4331}">
      <dsp:nvSpPr>
        <dsp:cNvPr id="0" name=""/>
        <dsp:cNvSpPr/>
      </dsp:nvSpPr>
      <dsp:spPr>
        <a:xfrm>
          <a:off x="5564497" y="2673067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>
              <a:solidFill>
                <a:schemeClr val="bg1"/>
              </a:solidFill>
              <a:latin typeface="Calibri"/>
            </a:rPr>
            <a:t>0 person in legal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>
              <a:solidFill>
                <a:schemeClr val="bg1"/>
              </a:solidFill>
              <a:latin typeface="Calibri"/>
            </a:rPr>
            <a:t>to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i="0" kern="1200" dirty="0">
              <a:solidFill>
                <a:schemeClr val="bg1"/>
              </a:solidFill>
              <a:latin typeface="Calibri"/>
            </a:rPr>
            <a:t> </a:t>
          </a:r>
          <a:r>
            <a:rPr lang="en-IN" sz="1200" b="1" i="0" kern="1200" dirty="0">
              <a:solidFill>
                <a:schemeClr val="bg1"/>
              </a:solidFill>
              <a:highlight>
                <a:srgbClr val="008000"/>
              </a:highlight>
              <a:latin typeface="Calibri"/>
            </a:rPr>
            <a:t>Legal check every deal</a:t>
          </a:r>
          <a:endParaRPr lang="en-IN" sz="1200" b="1" kern="1200" dirty="0">
            <a:solidFill>
              <a:schemeClr val="bg1"/>
            </a:solidFill>
            <a:highlight>
              <a:srgbClr val="008000"/>
            </a:highlight>
          </a:endParaRPr>
        </a:p>
      </dsp:txBody>
      <dsp:txXfrm>
        <a:off x="5749322" y="2857892"/>
        <a:ext cx="892412" cy="892412"/>
      </dsp:txXfrm>
    </dsp:sp>
    <dsp:sp modelId="{784D2E14-26A7-49C6-A9DC-06DFC416296E}">
      <dsp:nvSpPr>
        <dsp:cNvPr id="0" name=""/>
        <dsp:cNvSpPr/>
      </dsp:nvSpPr>
      <dsp:spPr>
        <a:xfrm rot="7714286">
          <a:off x="5441692" y="3825337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 rot="10800000">
        <a:off x="5523673" y="3871046"/>
        <a:ext cx="235650" cy="255568"/>
      </dsp:txXfrm>
    </dsp:sp>
    <dsp:sp modelId="{CA16F64E-A8AE-43D8-AF83-7AE6F80E1DC5}">
      <dsp:nvSpPr>
        <dsp:cNvPr id="0" name=""/>
        <dsp:cNvSpPr/>
      </dsp:nvSpPr>
      <dsp:spPr>
        <a:xfrm>
          <a:off x="4381588" y="4156389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Brightwater Losses 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</a:rPr>
            <a:t>to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chemeClr val="bg1"/>
              </a:solidFill>
              <a:highlight>
                <a:srgbClr val="008000"/>
              </a:highlight>
            </a:rPr>
            <a:t>0 losses/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chemeClr val="bg1"/>
              </a:solidFill>
              <a:highlight>
                <a:srgbClr val="008000"/>
              </a:highlight>
            </a:rPr>
            <a:t>misses</a:t>
          </a:r>
        </a:p>
      </dsp:txBody>
      <dsp:txXfrm>
        <a:off x="4566413" y="4341214"/>
        <a:ext cx="892412" cy="892412"/>
      </dsp:txXfrm>
    </dsp:sp>
    <dsp:sp modelId="{4B09C022-E6A8-4E4F-BA36-2AC14F344F99}">
      <dsp:nvSpPr>
        <dsp:cNvPr id="0" name=""/>
        <dsp:cNvSpPr/>
      </dsp:nvSpPr>
      <dsp:spPr>
        <a:xfrm rot="10800000">
          <a:off x="3905205" y="4574447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 rot="10800000">
        <a:off x="4006198" y="4659636"/>
        <a:ext cx="235650" cy="255568"/>
      </dsp:txXfrm>
    </dsp:sp>
    <dsp:sp modelId="{742F4E8D-BBAD-467B-B88D-DA56E0F77E5A}">
      <dsp:nvSpPr>
        <dsp:cNvPr id="0" name=""/>
        <dsp:cNvSpPr/>
      </dsp:nvSpPr>
      <dsp:spPr>
        <a:xfrm>
          <a:off x="2484349" y="4156389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i="0" kern="1200" dirty="0">
              <a:solidFill>
                <a:schemeClr val="bg1"/>
              </a:solidFill>
              <a:latin typeface="Calibri"/>
            </a:rPr>
            <a:t>3–4 hrs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i="0" kern="1200" dirty="0">
              <a:solidFill>
                <a:schemeClr val="bg1"/>
              </a:solidFill>
              <a:latin typeface="Calibri"/>
            </a:rPr>
            <a:t> to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>
              <a:highlight>
                <a:srgbClr val="008000"/>
              </a:highlight>
            </a:rPr>
            <a:t>Minutes, not hours and ready brief for negotiation</a:t>
          </a:r>
          <a:endParaRPr lang="en-IN" sz="1050" b="1" kern="1200" dirty="0">
            <a:solidFill>
              <a:schemeClr val="bg1"/>
            </a:solidFill>
            <a:highlight>
              <a:srgbClr val="008000"/>
            </a:highlight>
          </a:endParaRPr>
        </a:p>
      </dsp:txBody>
      <dsp:txXfrm>
        <a:off x="2669174" y="4341214"/>
        <a:ext cx="892412" cy="892412"/>
      </dsp:txXfrm>
    </dsp:sp>
    <dsp:sp modelId="{F88593AE-4FE3-4519-8A97-450F0660C4F8}">
      <dsp:nvSpPr>
        <dsp:cNvPr id="0" name=""/>
        <dsp:cNvSpPr/>
      </dsp:nvSpPr>
      <dsp:spPr>
        <a:xfrm rot="13885714">
          <a:off x="2361544" y="3840235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 rot="10800000">
        <a:off x="2443525" y="3964904"/>
        <a:ext cx="235650" cy="255568"/>
      </dsp:txXfrm>
    </dsp:sp>
    <dsp:sp modelId="{F7CD91B7-1F0D-4265-B286-50A5F4B1B5B0}">
      <dsp:nvSpPr>
        <dsp:cNvPr id="0" name=""/>
        <dsp:cNvSpPr/>
      </dsp:nvSpPr>
      <dsp:spPr>
        <a:xfrm>
          <a:off x="1301440" y="2673067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bg1"/>
              </a:solidFill>
            </a:rPr>
            <a:t>700k deals (15 deals queue)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>
              <a:solidFill>
                <a:schemeClr val="bg1"/>
              </a:solidFill>
            </a:rPr>
            <a:t> to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>
              <a:solidFill>
                <a:schemeClr val="bg1"/>
              </a:solidFill>
              <a:highlight>
                <a:srgbClr val="008000"/>
              </a:highlight>
            </a:rPr>
            <a:t>All deals unblocked</a:t>
          </a:r>
        </a:p>
      </dsp:txBody>
      <dsp:txXfrm>
        <a:off x="1486265" y="2857892"/>
        <a:ext cx="892412" cy="892412"/>
      </dsp:txXfrm>
    </dsp:sp>
    <dsp:sp modelId="{16BBF225-13A5-4FDA-9E45-12943F74F5CC}">
      <dsp:nvSpPr>
        <dsp:cNvPr id="0" name=""/>
        <dsp:cNvSpPr/>
      </dsp:nvSpPr>
      <dsp:spPr>
        <a:xfrm rot="16971429">
          <a:off x="1973117" y="2175579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>
        <a:off x="2012377" y="2309998"/>
        <a:ext cx="235650" cy="255568"/>
      </dsp:txXfrm>
    </dsp:sp>
    <dsp:sp modelId="{6A6E938B-3AD0-4B51-A94C-6750B819A1E8}">
      <dsp:nvSpPr>
        <dsp:cNvPr id="0" name=""/>
        <dsp:cNvSpPr/>
      </dsp:nvSpPr>
      <dsp:spPr>
        <a:xfrm>
          <a:off x="1723615" y="823396"/>
          <a:ext cx="1262062" cy="12620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bg1"/>
              </a:solidFill>
            </a:rPr>
            <a:t>Review Queue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kern="1200" dirty="0">
              <a:solidFill>
                <a:schemeClr val="bg1"/>
              </a:solidFill>
            </a:rPr>
            <a:t>To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>
              <a:highlight>
                <a:srgbClr val="008000"/>
              </a:highlight>
            </a:rPr>
            <a:t>Zero backlog</a:t>
          </a:r>
          <a:endParaRPr lang="en-IN" sz="1100" b="1" kern="1200" dirty="0">
            <a:solidFill>
              <a:schemeClr val="bg1"/>
            </a:solidFill>
            <a:highlight>
              <a:srgbClr val="008000"/>
            </a:highlight>
          </a:endParaRPr>
        </a:p>
      </dsp:txBody>
      <dsp:txXfrm>
        <a:off x="1908440" y="1008221"/>
        <a:ext cx="892412" cy="892412"/>
      </dsp:txXfrm>
    </dsp:sp>
    <dsp:sp modelId="{9532BBBE-CFC5-4AB2-ABF5-07478C62D071}">
      <dsp:nvSpPr>
        <dsp:cNvPr id="0" name=""/>
        <dsp:cNvSpPr/>
      </dsp:nvSpPr>
      <dsp:spPr>
        <a:xfrm rot="20057143">
          <a:off x="3032417" y="833998"/>
          <a:ext cx="336643" cy="4259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>
            <a:solidFill>
              <a:schemeClr val="bg1"/>
            </a:solidFill>
          </a:endParaRPr>
        </a:p>
      </dsp:txBody>
      <dsp:txXfrm>
        <a:off x="3037418" y="941097"/>
        <a:ext cx="235650" cy="255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364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one-line promise. ContractLens does not sign or approve anything; it shows Karandeep, with the exact clause quoted, what a draft collides with, what is buried in it and what is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left to right then back. Green = deterministic code, purple = model, red = human. The model only does what needs reading and judgement; anything with a right answer is code. The citation check sits between the model and the brief, so nothing invented reaches Karandeep.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38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phases. Phase 0 pilot with Karandeep and Dhaval in shadow mode for four weeks. Each gate checks: no missed red flags, review under 15 minutes, sellers using it. Kill switch returns to manual review at any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on concrete asks. The prototype already runs on the real dataset; what remains is the playbook owner's input, the missing contracts and the production model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Eval criteria decide whether we launch; these metrics decide whether it worked after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two highest-risk failure modes are missing a real conflict and the tool acting as an approver. The register design and the absence of any approve action address those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here: everything deterministic is proven on the real dataset. The AI clause scan has been tested with a fake model for the plumbing (citation check, severity lookup), but its recall and precision need a live run and Karandeep's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6400800"/>
            <a:ext cx="731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7" dirty="0">
                <a:solidFill>
                  <a:schemeClr val="accent3"/>
                </a:solidFill>
              </a:rPr>
              <a:t>Atliq ContractLens  ·  Launch plan  ·  October 2026</a:t>
            </a:r>
            <a:endParaRPr lang="en-US" sz="10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400800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tliqcontractlens.vercel.app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tliqcontractlens.vercel.app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09728" cy="1737360"/>
          </a:xfrm>
          <a:prstGeom prst="rect">
            <a:avLst/>
          </a:prstGeom>
          <a:solidFill>
            <a:srgbClr val="E24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3873356"/>
            <a:ext cx="1005840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400" b="0" i="0" dirty="0">
                <a:solidFill>
                  <a:srgbClr val="C9D3E3"/>
                </a:solidFill>
                <a:latin typeface="Calibri"/>
              </a:rPr>
              <a:t>AI Power Legal Assistant</a:t>
            </a:r>
            <a:endParaRPr sz="2400" b="0" i="0" dirty="0">
              <a:solidFill>
                <a:srgbClr val="C9D3E3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6384" y="4727374"/>
            <a:ext cx="100584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600" b="0" i="0" dirty="0">
                <a:solidFill>
                  <a:srgbClr val="C9D3E3"/>
                </a:solidFill>
                <a:latin typeface="Calibri"/>
              </a:rPr>
              <a:t>By </a:t>
            </a:r>
            <a:r>
              <a:rPr sz="1600" b="0" i="0" dirty="0">
                <a:solidFill>
                  <a:srgbClr val="C9D3E3"/>
                </a:solidFill>
                <a:latin typeface="Calibri"/>
              </a:rPr>
              <a:t>Rupali Badkar, AI Product</a:t>
            </a:r>
            <a:r>
              <a:rPr lang="en-US" sz="1600" b="0" i="0" dirty="0">
                <a:solidFill>
                  <a:srgbClr val="C9D3E3"/>
                </a:solidFill>
                <a:latin typeface="Calibri"/>
              </a:rPr>
              <a:t> Manager</a:t>
            </a:r>
            <a:endParaRPr sz="1600" b="0" i="0" dirty="0">
              <a:solidFill>
                <a:srgbClr val="C9D3E3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067674-2E84-4899-A69B-2004433E0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569" y="2232655"/>
            <a:ext cx="3150008" cy="11963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4535"/>
    </mc:Choice>
    <mc:Fallback>
      <p:transition spd="slow" advTm="57453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4D9572-EC8D-8ACD-7DFF-B0095568850F}"/>
              </a:ext>
            </a:extLst>
          </p:cNvPr>
          <p:cNvSpPr txBox="1"/>
          <p:nvPr/>
        </p:nvSpPr>
        <p:spPr>
          <a:xfrm>
            <a:off x="452284" y="764024"/>
            <a:ext cx="54864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000" dirty="0"/>
              <a:t>Company Overview &amp; Business Context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000" dirty="0"/>
              <a:t>Need for AI Based Assistant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000" dirty="0"/>
              <a:t>Product Details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000" dirty="0"/>
              <a:t>Benefit with the New AI based Assistant</a:t>
            </a: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2000" dirty="0"/>
              <a:t>Launch Plan</a:t>
            </a:r>
          </a:p>
          <a:p>
            <a:pPr marL="342900" indent="-342900">
              <a:lnSpc>
                <a:spcPct val="250000"/>
              </a:lnSpc>
              <a:buFontTx/>
              <a:buAutoNum type="arabicPeriod"/>
            </a:pPr>
            <a:r>
              <a:rPr lang="en-US" sz="2000" dirty="0"/>
              <a:t>Inputs from Founders</a:t>
            </a:r>
          </a:p>
          <a:p>
            <a:pPr marL="342900" indent="-342900">
              <a:lnSpc>
                <a:spcPct val="250000"/>
              </a:lnSpc>
              <a:buFontTx/>
              <a:buAutoNum type="arabicPeriod"/>
            </a:pPr>
            <a:r>
              <a:rPr lang="en-US" sz="2000" dirty="0"/>
              <a:t>Q&amp;A 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pPr marL="342900" indent="-342900">
              <a:buAutoNum type="arabicPeriod"/>
            </a:pP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F996B-A9C6-B98A-5294-1AEE66E12AEE}"/>
              </a:ext>
            </a:extLst>
          </p:cNvPr>
          <p:cNvSpPr txBox="1"/>
          <p:nvPr/>
        </p:nvSpPr>
        <p:spPr>
          <a:xfrm>
            <a:off x="452284" y="-208814"/>
            <a:ext cx="105412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4000" dirty="0"/>
              <a:t>Table of Contents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69290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E74F3D-7389-4DA3-BFC1-22EB20589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90" y="3867198"/>
            <a:ext cx="2806771" cy="2353858"/>
          </a:xfrm>
          <a:prstGeom prst="rect">
            <a:avLst/>
          </a:prstGeom>
        </p:spPr>
      </p:pic>
      <p:pic>
        <p:nvPicPr>
          <p:cNvPr id="1026" name="Picture 2" descr="Icon Representing Working Hours Employee Attendance Stock Vector (Royalty Free) 2652457271 | Shutterstock">
            <a:extLst>
              <a:ext uri="{FF2B5EF4-FFF2-40B4-BE49-F238E27FC236}">
                <a16:creationId xmlns:a16="http://schemas.microsoft.com/office/drawing/2014/main" id="{BC560C9D-4780-4D3A-AC7F-F272461DBC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1229" b="11236"/>
          <a:stretch/>
        </p:blipFill>
        <p:spPr bwMode="auto">
          <a:xfrm>
            <a:off x="4592145" y="3022391"/>
            <a:ext cx="554802" cy="59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con Representing Working Hours Employee Attendance Stock Vector (Royalty Free) 2652457271 | Shutterstock">
            <a:extLst>
              <a:ext uri="{FF2B5EF4-FFF2-40B4-BE49-F238E27FC236}">
                <a16:creationId xmlns:a16="http://schemas.microsoft.com/office/drawing/2014/main" id="{D94A8B1A-E439-498E-BC06-827F990A85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1229" b="11236"/>
          <a:stretch/>
        </p:blipFill>
        <p:spPr bwMode="auto">
          <a:xfrm>
            <a:off x="4581669" y="3754805"/>
            <a:ext cx="554802" cy="59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con Representing Working Hours Employee Attendance Stock Vector (Royalty Free) 2652457271 | Shutterstock">
            <a:extLst>
              <a:ext uri="{FF2B5EF4-FFF2-40B4-BE49-F238E27FC236}">
                <a16:creationId xmlns:a16="http://schemas.microsoft.com/office/drawing/2014/main" id="{FB29A8FB-559F-4BE0-9C9B-A97E8094B3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1229" b="11236"/>
          <a:stretch/>
        </p:blipFill>
        <p:spPr bwMode="auto">
          <a:xfrm>
            <a:off x="4612692" y="4538155"/>
            <a:ext cx="554802" cy="59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AFEA30-67F7-482A-BCE6-74B613A9DF31}"/>
              </a:ext>
            </a:extLst>
          </p:cNvPr>
          <p:cNvSpPr txBox="1"/>
          <p:nvPr/>
        </p:nvSpPr>
        <p:spPr>
          <a:xfrm>
            <a:off x="1438380" y="3355039"/>
            <a:ext cx="191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Karandeep</a:t>
            </a:r>
            <a:r>
              <a:rPr lang="en-US" dirty="0"/>
              <a:t> CEO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DEC8E0-66CF-485C-B4F7-940733B9C4A3}"/>
              </a:ext>
            </a:extLst>
          </p:cNvPr>
          <p:cNvSpPr txBox="1"/>
          <p:nvPr/>
        </p:nvSpPr>
        <p:spPr>
          <a:xfrm flipH="1">
            <a:off x="5362827" y="3183866"/>
            <a:ext cx="2651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Dhaval (Founder, Sales)</a:t>
            </a:r>
            <a:endParaRPr lang="en-IN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E925C7-7A11-4321-8B98-B0C3CFC8BEA7}"/>
              </a:ext>
            </a:extLst>
          </p:cNvPr>
          <p:cNvSpPr/>
          <p:nvPr/>
        </p:nvSpPr>
        <p:spPr>
          <a:xfrm>
            <a:off x="5362827" y="3905395"/>
            <a:ext cx="226059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Bhavin (Founder, Sales)</a:t>
            </a:r>
            <a:endParaRPr lang="en-IN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A5C9CA-07C9-49CA-B58B-DF91A8007679}"/>
              </a:ext>
            </a:extLst>
          </p:cNvPr>
          <p:cNvSpPr/>
          <p:nvPr/>
        </p:nvSpPr>
        <p:spPr>
          <a:xfrm>
            <a:off x="5362827" y="4715928"/>
            <a:ext cx="185990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Pranav (CTO)</a:t>
            </a:r>
            <a:endParaRPr lang="en-IN" sz="1600" dirty="0"/>
          </a:p>
        </p:txBody>
      </p:sp>
      <p:pic>
        <p:nvPicPr>
          <p:cNvPr id="18" name="Picture 2" descr="Icon Representing Working Hours Employee Attendance Stock Vector (Royalty Free) 2652457271 | Shutterstock">
            <a:extLst>
              <a:ext uri="{FF2B5EF4-FFF2-40B4-BE49-F238E27FC236}">
                <a16:creationId xmlns:a16="http://schemas.microsoft.com/office/drawing/2014/main" id="{CF00BACB-5547-46BC-BCBD-0A9C35EC7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1229" b="11236"/>
          <a:stretch/>
        </p:blipFill>
        <p:spPr bwMode="auto">
          <a:xfrm>
            <a:off x="4561322" y="5321504"/>
            <a:ext cx="554802" cy="59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B52CDC-90AE-4AB6-88D6-8B0490FD730D}"/>
              </a:ext>
            </a:extLst>
          </p:cNvPr>
          <p:cNvSpPr txBox="1"/>
          <p:nvPr/>
        </p:nvSpPr>
        <p:spPr>
          <a:xfrm>
            <a:off x="5362827" y="5497974"/>
            <a:ext cx="1078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Jay (Sales)</a:t>
            </a:r>
            <a:endParaRPr lang="en-IN" sz="16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54642E-856B-4E6E-AC9B-DCE08958B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991" y="6135633"/>
            <a:ext cx="554956" cy="59728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9D2883-A17A-42FD-B365-4A0054D9DCEB}"/>
              </a:ext>
            </a:extLst>
          </p:cNvPr>
          <p:cNvSpPr txBox="1"/>
          <p:nvPr/>
        </p:nvSpPr>
        <p:spPr>
          <a:xfrm>
            <a:off x="5362827" y="6292255"/>
            <a:ext cx="2014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Team Members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1B550-9CC8-4E72-8618-0B39018F1337}"/>
              </a:ext>
            </a:extLst>
          </p:cNvPr>
          <p:cNvSpPr txBox="1"/>
          <p:nvPr/>
        </p:nvSpPr>
        <p:spPr>
          <a:xfrm>
            <a:off x="285272" y="1124648"/>
            <a:ext cx="106586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Business: Custom software, data platforms &amp; AI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Reach: India, US, Middle East &amp; Europe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Entities: </a:t>
            </a:r>
            <a:r>
              <a:rPr lang="en-US" dirty="0" err="1"/>
              <a:t>AtliQ</a:t>
            </a:r>
            <a:r>
              <a:rPr lang="en-US" dirty="0"/>
              <a:t> Inc. (US) &amp; </a:t>
            </a:r>
            <a:r>
              <a:rPr lang="en-US" dirty="0" err="1"/>
              <a:t>AtliQ</a:t>
            </a:r>
            <a:r>
              <a:rPr lang="en-US" dirty="0"/>
              <a:t> Technologies Pvt Ltd (India)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Contracting Roles: Supplier, buyer, strategic </a:t>
            </a:r>
            <a:r>
              <a:rPr lang="en-US" dirty="0" err="1"/>
              <a:t>partner,freelancers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Contract Ecosystem: Client MSAs/SOWs, vendor agreements, partnership agreements &amp; NDAs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573593-58EC-4E40-ABB2-0F4B98C09F94}"/>
              </a:ext>
            </a:extLst>
          </p:cNvPr>
          <p:cNvSpPr txBox="1"/>
          <p:nvPr/>
        </p:nvSpPr>
        <p:spPr>
          <a:xfrm>
            <a:off x="0" y="-26001"/>
            <a:ext cx="105412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4000" dirty="0"/>
              <a:t>Company Overview &amp; Business Context</a:t>
            </a:r>
            <a:endParaRPr lang="en-IN" sz="4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8274DB3-818D-4D38-9C57-03C761A461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115" y="362276"/>
            <a:ext cx="3892885" cy="183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56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16" grpId="0"/>
      <p:bldP spid="17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5B7B4-2CE5-47C5-AA65-8B0A1382D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144" y="2720096"/>
            <a:ext cx="2806771" cy="2353858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9C16977-5378-4D7F-95E9-06100553D6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7213728"/>
              </p:ext>
            </p:extLst>
          </p:nvPr>
        </p:nvGraphicFramePr>
        <p:xfrm>
          <a:off x="-433798" y="104843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A443853-D679-476E-8BB7-0E16DD3CC6BF}"/>
              </a:ext>
            </a:extLst>
          </p:cNvPr>
          <p:cNvSpPr txBox="1"/>
          <p:nvPr/>
        </p:nvSpPr>
        <p:spPr>
          <a:xfrm>
            <a:off x="7368627" y="939480"/>
            <a:ext cx="4446655" cy="225087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sz="1400" b="0" i="0" dirty="0" err="1">
                <a:solidFill>
                  <a:srgbClr val="1F2937"/>
                </a:solidFill>
                <a:latin typeface="Calibri"/>
              </a:rPr>
              <a:t>Karandeep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(CEO) is the only signatory for both 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AtliQ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entities. He reads each draft end to end between sales calls, sometimes on his phone at an airport.</a:t>
            </a:r>
          </a:p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sz="1400" b="0" i="0" dirty="0">
                <a:solidFill>
                  <a:srgbClr val="1F2937"/>
                </a:solidFill>
                <a:latin typeface="Calibri"/>
              </a:rPr>
              <a:t>He has to remember what 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AtliQ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already promised other clients: non-competes, exclusivity, most-</a:t>
            </a:r>
            <a:r>
              <a:rPr sz="1400" b="0" i="0" dirty="0" err="1">
                <a:solidFill>
                  <a:srgbClr val="1F2937"/>
                </a:solidFill>
                <a:latin typeface="Calibri"/>
              </a:rPr>
              <a:t>favoured</a:t>
            </a:r>
            <a:r>
              <a:rPr sz="1400" b="0" i="0" dirty="0">
                <a:solidFill>
                  <a:srgbClr val="1F2937"/>
                </a:solidFill>
                <a:latin typeface="Calibri"/>
              </a:rPr>
              <a:t> pricing, IP handed over. None of it is written down in one place.</a:t>
            </a:r>
          </a:p>
          <a:p>
            <a:pPr marL="285750" indent="-285750" algn="just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sz="1400" b="0" i="0" dirty="0">
                <a:solidFill>
                  <a:srgbClr val="1F2937"/>
                </a:solidFill>
                <a:latin typeface="Calibri"/>
              </a:rPr>
              <a:t>Sellers (Bhavin, Dhaval, Jay) can't close until he finishes, and can't tell which of their deals is risky.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1E5698-5AF9-4981-93DD-4DAD9AFA6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780848"/>
              </p:ext>
            </p:extLst>
          </p:nvPr>
        </p:nvGraphicFramePr>
        <p:xfrm>
          <a:off x="7368627" y="3434144"/>
          <a:ext cx="4713782" cy="3279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412"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 marL="73152" marR="73152" marT="36576" marB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73152" marR="73152" marT="36576" marB="36576"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342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Brightwater: </a:t>
                      </a:r>
                      <a:r>
                        <a:rPr sz="1500" b="0" dirty="0" err="1">
                          <a:solidFill>
                            <a:srgbClr val="1F2937"/>
                          </a:solidFill>
                          <a:latin typeface="Calibri"/>
                        </a:rPr>
                        <a:t>AtliQ</a:t>
                      </a:r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 Inc signed under English law, at an airport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$9,000 settlement credit + $14,200 legal fees + ~2 weeks of senior time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12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F2937"/>
                          </a:solidFill>
                          <a:latin typeface="Calibri"/>
                        </a:rPr>
                        <a:t>ShopSwift</a:t>
                      </a:r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: SOW sat 9 days in the queue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Client's budget slipped a quarter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12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Outside counsel for each complex review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≈ ₹1,20,000</a:t>
                      </a:r>
                      <a:r>
                        <a:rPr lang="en-US"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($1350)</a:t>
                      </a:r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 and 5–7 working 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504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Today's queue (tracker, 28 Sep 2026)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15 drafts, about $</a:t>
                      </a:r>
                      <a:r>
                        <a:rPr lang="en-US"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700</a:t>
                      </a:r>
                      <a:r>
                        <a:rPr sz="1500" b="0" dirty="0">
                          <a:solidFill>
                            <a:srgbClr val="1F2937"/>
                          </a:solidFill>
                          <a:latin typeface="Calibri"/>
                        </a:rPr>
                        <a:t>k of deals, most due in early October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ardrop 6">
            <a:extLst>
              <a:ext uri="{FF2B5EF4-FFF2-40B4-BE49-F238E27FC236}">
                <a16:creationId xmlns:a16="http://schemas.microsoft.com/office/drawing/2014/main" id="{CEE39678-38BE-4A84-8E15-4B9153F812A5}"/>
              </a:ext>
            </a:extLst>
          </p:cNvPr>
          <p:cNvSpPr/>
          <p:nvPr/>
        </p:nvSpPr>
        <p:spPr>
          <a:xfrm rot="11483686">
            <a:off x="5866156" y="949825"/>
            <a:ext cx="1625947" cy="1275824"/>
          </a:xfrm>
          <a:prstGeom prst="teardrop">
            <a:avLst>
              <a:gd name="adj" fmla="val 20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A319A-CAEE-44EA-9D9B-1E1503C5641C}"/>
              </a:ext>
            </a:extLst>
          </p:cNvPr>
          <p:cNvSpPr txBox="1"/>
          <p:nvPr/>
        </p:nvSpPr>
        <p:spPr>
          <a:xfrm>
            <a:off x="5858553" y="1295349"/>
            <a:ext cx="18356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Value of CEO time =Infinity$/hour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90393-26CE-4C4B-8D69-564FD97129A9}"/>
              </a:ext>
            </a:extLst>
          </p:cNvPr>
          <p:cNvSpPr txBox="1"/>
          <p:nvPr/>
        </p:nvSpPr>
        <p:spPr>
          <a:xfrm>
            <a:off x="0" y="-223715"/>
            <a:ext cx="105412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4000" dirty="0"/>
              <a:t>Need for AI based Legal Assistant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55808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765DB-A31B-4474-BAC5-938BBD2EF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A1B6C1-D01E-20C7-832E-124C5F4AA60E}"/>
              </a:ext>
            </a:extLst>
          </p:cNvPr>
          <p:cNvSpPr txBox="1"/>
          <p:nvPr/>
        </p:nvSpPr>
        <p:spPr>
          <a:xfrm>
            <a:off x="3048000" y="58434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https://atliqcontractlens.vercel.app/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10F82-F683-3268-6791-788A30C45092}"/>
              </a:ext>
            </a:extLst>
          </p:cNvPr>
          <p:cNvSpPr txBox="1"/>
          <p:nvPr/>
        </p:nvSpPr>
        <p:spPr>
          <a:xfrm>
            <a:off x="2008543" y="5843454"/>
            <a:ext cx="103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 URL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31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3A876B-0109-4F18-8B0A-ECC7E862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919"/>
            <a:ext cx="3246634" cy="671416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3382536-6C3E-4C72-8AB7-B3ED808E2E93}"/>
              </a:ext>
            </a:extLst>
          </p:cNvPr>
          <p:cNvSpPr/>
          <p:nvPr/>
        </p:nvSpPr>
        <p:spPr>
          <a:xfrm>
            <a:off x="4436667" y="657654"/>
            <a:ext cx="7393970" cy="61816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Provides the review queue as per the Persona with inputs from contract source(RAG)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246980-7C20-48C8-B767-43227A23C681}"/>
              </a:ext>
            </a:extLst>
          </p:cNvPr>
          <p:cNvSpPr/>
          <p:nvPr/>
        </p:nvSpPr>
        <p:spPr>
          <a:xfrm>
            <a:off x="4539409" y="1665806"/>
            <a:ext cx="7393970" cy="886146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Review the contracts, shows the </a:t>
            </a:r>
            <a:r>
              <a:rPr lang="en-US" dirty="0" err="1"/>
              <a:t>blocker,option</a:t>
            </a:r>
            <a:r>
              <a:rPr lang="en-US" dirty="0"/>
              <a:t> to accept or sent to outside </a:t>
            </a:r>
            <a:r>
              <a:rPr lang="en-US" dirty="0" err="1"/>
              <a:t>consel</a:t>
            </a:r>
            <a:r>
              <a:rPr lang="en-US" dirty="0"/>
              <a:t>, brief email to share for negotiation</a:t>
            </a:r>
            <a:endParaRPr lang="en-IN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709114-8A28-406D-A3CB-1036DA8B0D89}"/>
              </a:ext>
            </a:extLst>
          </p:cNvPr>
          <p:cNvSpPr/>
          <p:nvPr/>
        </p:nvSpPr>
        <p:spPr>
          <a:xfrm>
            <a:off x="4488037" y="2941941"/>
            <a:ext cx="7393970" cy="61816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Obligation register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CB0EB88-774D-4E7E-83BE-A52B94E8A8F3}"/>
              </a:ext>
            </a:extLst>
          </p:cNvPr>
          <p:cNvSpPr/>
          <p:nvPr/>
        </p:nvSpPr>
        <p:spPr>
          <a:xfrm>
            <a:off x="4436665" y="4024149"/>
            <a:ext cx="7393970" cy="61816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Option to ask the contracts what </a:t>
            </a:r>
            <a:r>
              <a:rPr lang="en-US" dirty="0" err="1"/>
              <a:t>Atliq</a:t>
            </a:r>
            <a:r>
              <a:rPr lang="en-US" dirty="0"/>
              <a:t> as already promised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0CAC3B-09CF-471A-9347-3336686B5113}"/>
              </a:ext>
            </a:extLst>
          </p:cNvPr>
          <p:cNvSpPr/>
          <p:nvPr/>
        </p:nvSpPr>
        <p:spPr>
          <a:xfrm>
            <a:off x="4409264" y="5064408"/>
            <a:ext cx="7393970" cy="61816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of the signed portfolio</a:t>
            </a:r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069B4C-798F-4C96-882A-8888B4C35CEF}"/>
              </a:ext>
            </a:extLst>
          </p:cNvPr>
          <p:cNvSpPr/>
          <p:nvPr/>
        </p:nvSpPr>
        <p:spPr>
          <a:xfrm>
            <a:off x="4275705" y="6121790"/>
            <a:ext cx="7393970" cy="61816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Audit log of reviewed document with date</a:t>
            </a:r>
            <a:endParaRPr lang="en-IN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C13AFF6-CA54-4A6A-BFF5-E904E961B4F8}"/>
              </a:ext>
            </a:extLst>
          </p:cNvPr>
          <p:cNvCxnSpPr>
            <a:cxnSpLocks/>
            <a:stCxn id="4" idx="3"/>
            <a:endCxn id="9" idx="2"/>
          </p:cNvCxnSpPr>
          <p:nvPr/>
        </p:nvCxnSpPr>
        <p:spPr>
          <a:xfrm flipV="1">
            <a:off x="3246634" y="966736"/>
            <a:ext cx="1190033" cy="24622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0F7F4BD-F811-4A69-868F-D3FD2543B4EF}"/>
              </a:ext>
            </a:extLst>
          </p:cNvPr>
          <p:cNvCxnSpPr>
            <a:cxnSpLocks/>
          </p:cNvCxnSpPr>
          <p:nvPr/>
        </p:nvCxnSpPr>
        <p:spPr>
          <a:xfrm flipV="1">
            <a:off x="3298004" y="2147407"/>
            <a:ext cx="1253447" cy="1855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6D00579-3141-4CF3-ABB3-9B0470F744D2}"/>
              </a:ext>
            </a:extLst>
          </p:cNvPr>
          <p:cNvCxnSpPr>
            <a:cxnSpLocks/>
          </p:cNvCxnSpPr>
          <p:nvPr/>
        </p:nvCxnSpPr>
        <p:spPr>
          <a:xfrm flipV="1">
            <a:off x="3253485" y="3286125"/>
            <a:ext cx="1285924" cy="1277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F5F5391-BD93-4922-8884-CF1CC7308FE3}"/>
              </a:ext>
            </a:extLst>
          </p:cNvPr>
          <p:cNvCxnSpPr>
            <a:cxnSpLocks/>
          </p:cNvCxnSpPr>
          <p:nvPr/>
        </p:nvCxnSpPr>
        <p:spPr>
          <a:xfrm flipV="1">
            <a:off x="3259448" y="4370429"/>
            <a:ext cx="1170366" cy="1003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822C817-FD03-47B2-85A5-7B42856CF7CC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260335" y="5373490"/>
            <a:ext cx="1148929" cy="482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4AAD4BC-7C9A-41B2-B29B-1C00FA92EDB6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3285962" y="6430872"/>
            <a:ext cx="989743" cy="171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75B9541-0138-B610-BAFB-5795350AF36C}"/>
              </a:ext>
            </a:extLst>
          </p:cNvPr>
          <p:cNvSpPr txBox="1"/>
          <p:nvPr/>
        </p:nvSpPr>
        <p:spPr>
          <a:xfrm>
            <a:off x="8423483" y="719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https://atliqcontractlens.vercel.app/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59BFAA-DBAB-97F7-2051-844925675352}"/>
              </a:ext>
            </a:extLst>
          </p:cNvPr>
          <p:cNvSpPr txBox="1"/>
          <p:nvPr/>
        </p:nvSpPr>
        <p:spPr>
          <a:xfrm>
            <a:off x="7384026" y="71919"/>
            <a:ext cx="1039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Visit URL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87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24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24B3B"/>
                </a:solidFill>
                <a:latin typeface="Calibri"/>
              </a:rPr>
              <a:t>WORKFLOW (LANGGRAPH)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899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C"/>
                </a:solidFill>
                <a:latin typeface="Calibri"/>
              </a:rPr>
              <a:t>How a review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Atliq ContractLens  ·  Capstone 2  ·  Rupali Badkar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1965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Personal-data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stops before any model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1591056"/>
            <a:ext cx="64008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7373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1810512"/>
            <a:ext cx="1965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Extract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148840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parties, law, locations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591056"/>
            <a:ext cx="640080" cy="27432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194560"/>
            <a:ext cx="320040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12080" y="17373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1810512"/>
            <a:ext cx="1965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Rule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148840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entity, law, deal bundle, NDA, annexes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591056"/>
            <a:ext cx="64008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92040" y="2194560"/>
            <a:ext cx="320040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17373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79" y="1810512"/>
            <a:ext cx="1965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Register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148840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recall-first triggers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39" y="1591056"/>
            <a:ext cx="64008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78039" y="2194560"/>
            <a:ext cx="320040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84080" y="173736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84080" y="1810512"/>
            <a:ext cx="19659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2148840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draft passages + precedent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1591056"/>
            <a:ext cx="640080" cy="27432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64040" y="2194560"/>
            <a:ext cx="320040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828800" y="34290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28800" y="3502152"/>
            <a:ext cx="2560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AI clause 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840480"/>
            <a:ext cx="2560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playbook rules, JSON with quotes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3282696"/>
            <a:ext cx="640080" cy="27432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34290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0" y="3502152"/>
            <a:ext cx="2560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AI conflict check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840480"/>
            <a:ext cx="256032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explains; cannot clear a flag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95160" y="3282696"/>
            <a:ext cx="640080" cy="274320"/>
          </a:xfrm>
          <a:prstGeom prst="round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3429000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12480" y="3502152"/>
            <a:ext cx="2926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Citation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840480"/>
            <a:ext cx="29260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quote must be in the contract verbatim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52760" y="3282696"/>
            <a:ext cx="64008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498348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28800" y="5056632"/>
            <a:ext cx="42062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Brief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5394960"/>
            <a:ext cx="4206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verdict, flags by severity, deal checklist, "could not check"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49240" y="4837176"/>
            <a:ext cx="640080" cy="27432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498348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24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66560" y="5056632"/>
            <a:ext cx="45720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14233C"/>
                </a:solidFill>
                <a:latin typeface="Calibri"/>
              </a:rPr>
              <a:t>Karandeep decides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394960"/>
            <a:ext cx="45720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accept · dismiss · counsel, then the outcome email is drafted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52760" y="4837176"/>
            <a:ext cx="640080" cy="274320"/>
          </a:xfrm>
          <a:prstGeom prst="roundRect">
            <a:avLst/>
          </a:prstGeom>
          <a:solidFill>
            <a:srgbClr val="E24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human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829800" y="2651760"/>
            <a:ext cx="0" cy="77724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7680960" y="3886200"/>
            <a:ext cx="731520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4389120" y="3886200"/>
            <a:ext cx="731520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108960" y="4343400"/>
            <a:ext cx="0" cy="64008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035040" y="5440680"/>
            <a:ext cx="731520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0080" y="3474720"/>
            <a:ext cx="118872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B6778"/>
                </a:solidFill>
                <a:latin typeface="Calibri"/>
              </a:rPr>
              <a:t>run in parallel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E7BEAE-ECF6-1CA9-724D-1DD103FA2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216377"/>
              </p:ext>
            </p:extLst>
          </p:nvPr>
        </p:nvGraphicFramePr>
        <p:xfrm>
          <a:off x="117988" y="707924"/>
          <a:ext cx="12083844" cy="615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0580">
                  <a:extLst>
                    <a:ext uri="{9D8B030D-6E8A-4147-A177-3AD203B41FA5}">
                      <a16:colId xmlns:a16="http://schemas.microsoft.com/office/drawing/2014/main" val="4235460970"/>
                    </a:ext>
                  </a:extLst>
                </a:gridCol>
                <a:gridCol w="3421626">
                  <a:extLst>
                    <a:ext uri="{9D8B030D-6E8A-4147-A177-3AD203B41FA5}">
                      <a16:colId xmlns:a16="http://schemas.microsoft.com/office/drawing/2014/main" val="2074159155"/>
                    </a:ext>
                  </a:extLst>
                </a:gridCol>
                <a:gridCol w="3330677">
                  <a:extLst>
                    <a:ext uri="{9D8B030D-6E8A-4147-A177-3AD203B41FA5}">
                      <a16:colId xmlns:a16="http://schemas.microsoft.com/office/drawing/2014/main" val="1798696310"/>
                    </a:ext>
                  </a:extLst>
                </a:gridCol>
                <a:gridCol w="3020961">
                  <a:extLst>
                    <a:ext uri="{9D8B030D-6E8A-4147-A177-3AD203B41FA5}">
                      <a16:colId xmlns:a16="http://schemas.microsoft.com/office/drawing/2014/main" val="2470046911"/>
                    </a:ext>
                  </a:extLst>
                </a:gridCol>
              </a:tblGrid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Severity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Rule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Meaning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Source file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3940746699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LD-UNCAPPED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Damages with no cap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788931109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LIAB-UNLIMITED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Unlimited liability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2415156625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PHI-OFFSHORE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Patient data leaves the US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2727733372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ENTITY-MISMATCH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Wrong AtliQ entity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rules.py (code check)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1606935833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BUNDLE-MISSING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BAA/DPA/NDA missing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rules.py (code check)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1763660917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R-01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Al Noor non-compete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2025-03-15_al_noor_hospitality_msa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683535500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R-03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Crestline lowest-price clause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2024-08-01_crestline_retail_msa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121315936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R-04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PipeKit IP given to Northwind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2025-06-20_northwind_logistics_msa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486336757"/>
                  </a:ext>
                </a:extLst>
              </a:tr>
              <a:tr h="400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R-05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CloudSpan exclusivity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2025-09-01_cloudspan_strategic_partnership_agreement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652925794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Blocker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R-07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Harrington data shared before BAA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2026-08-20_harrington_health_mutual_nda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4047859241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High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IP-BACKGROUND-ASSIGNED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AtliQ's tools handed over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921834592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High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NDA-NOT-MUTUAL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One-sided "mutual" NDA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618845333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High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IND-CLIENT-NEGLIGENCE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Covers client's own negligence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2648694960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High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LD-ABOVE-STANDARD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Damages above 0.5%/week or 5% cap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3747775881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High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NEW-RESTRICTION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New non-compete or exclusivity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174467387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High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INS-ABOVE-COVER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Insurance above $1M cover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Harrington huddle notes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2099284303"/>
                  </a:ext>
                </a:extLst>
              </a:tr>
              <a:tr h="2533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High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R-08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Intercompany BAA covers CareBridge only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2025-10-06_atliq_intercompany_subcontractor_baa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2076840375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Medium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PAY-SLOW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Payment slower than 45 days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3779022867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Medium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LIAB-ABOVE-1X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Liability cap above 1x fees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1494044301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Medium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IND-ONE-SIDED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Indemnity not mutual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3781473942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Medium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TERM-ASYMMETRIC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One-sided termination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negotiation_notes.md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3227902928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Medium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R-09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Freelancer kept Acme IP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2025-04-28_rohan_iyer_contractor_agreement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2426701548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Low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OTHER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Other minor point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not recorded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3668369783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Low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R-10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Meridian 24-month no-hire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2026-07-16_meridian_healthcare_nda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1090620821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Info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ONLY-LOOKS-RISKY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Looks risky, within standard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not recorded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1181111418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Info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R-02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Al Noor waiver, Seaside only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2026-02-10_al_noor_waiver_letter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2730815748"/>
                  </a:ext>
                </a:extLst>
              </a:tr>
              <a:tr h="21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Info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R-06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Expired Orbit non-compete</a:t>
                      </a:r>
                    </a:p>
                  </a:txBody>
                  <a:tcPr marL="19764" marR="19764" marT="9882" marB="98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2022-07-01_orbit_travels_msa_scanned</a:t>
                      </a:r>
                    </a:p>
                  </a:txBody>
                  <a:tcPr marL="19764" marR="19764" marT="9882" marB="9882" anchor="ctr"/>
                </a:tc>
                <a:extLst>
                  <a:ext uri="{0D108BD9-81ED-4DB2-BD59-A6C34878D82A}">
                    <a16:rowId xmlns:a16="http://schemas.microsoft.com/office/drawing/2014/main" val="98813873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E0E7024-5BF9-7A58-2F31-FE91CA6E743F}"/>
              </a:ext>
            </a:extLst>
          </p:cNvPr>
          <p:cNvSpPr txBox="1"/>
          <p:nvPr/>
        </p:nvSpPr>
        <p:spPr>
          <a:xfrm>
            <a:off x="117988" y="0"/>
            <a:ext cx="6508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High Low Medium &amp; Blocker basis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11197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7E5F-3A89-FA5E-0AE3-A89AEE2F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DBF96-85D3-8EE5-CF82-45B59D17F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144" y="2720096"/>
            <a:ext cx="2806771" cy="2353858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38AF36C-E087-7A3E-F8BB-A98F16ADC2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060864"/>
              </p:ext>
            </p:extLst>
          </p:nvPr>
        </p:nvGraphicFramePr>
        <p:xfrm>
          <a:off x="-433798" y="104843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ardrop 6">
            <a:extLst>
              <a:ext uri="{FF2B5EF4-FFF2-40B4-BE49-F238E27FC236}">
                <a16:creationId xmlns:a16="http://schemas.microsoft.com/office/drawing/2014/main" id="{3D6473D6-77C9-779A-C33F-1E6205080C33}"/>
              </a:ext>
            </a:extLst>
          </p:cNvPr>
          <p:cNvSpPr/>
          <p:nvPr/>
        </p:nvSpPr>
        <p:spPr>
          <a:xfrm rot="11483686">
            <a:off x="5866156" y="949825"/>
            <a:ext cx="1625947" cy="1275824"/>
          </a:xfrm>
          <a:prstGeom prst="teardrop">
            <a:avLst>
              <a:gd name="adj" fmla="val 20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8473EF-9F12-DA95-DDCD-BE419BBB42D7}"/>
              </a:ext>
            </a:extLst>
          </p:cNvPr>
          <p:cNvSpPr txBox="1"/>
          <p:nvPr/>
        </p:nvSpPr>
        <p:spPr>
          <a:xfrm>
            <a:off x="5858553" y="1295349"/>
            <a:ext cx="18356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74% Savings &amp; savings on CEO manhours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85BD8D-F4BB-4CEB-55B6-E03B1AA6845C}"/>
              </a:ext>
            </a:extLst>
          </p:cNvPr>
          <p:cNvSpPr txBox="1"/>
          <p:nvPr/>
        </p:nvSpPr>
        <p:spPr>
          <a:xfrm>
            <a:off x="0" y="-223715"/>
            <a:ext cx="105412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r>
              <a:rPr lang="en-US" sz="4000" dirty="0"/>
              <a:t>Benefits with</a:t>
            </a:r>
            <a:endParaRPr lang="en-IN" sz="4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98E130-5784-3D4D-7184-1294C59144D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3269" b="33898"/>
          <a:stretch>
            <a:fillRect/>
          </a:stretch>
        </p:blipFill>
        <p:spPr>
          <a:xfrm>
            <a:off x="3027961" y="80667"/>
            <a:ext cx="3283976" cy="7577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8F660D-361B-A333-A732-786EDC76EBE7}"/>
              </a:ext>
            </a:extLst>
          </p:cNvPr>
          <p:cNvSpPr txBox="1"/>
          <p:nvPr/>
        </p:nvSpPr>
        <p:spPr>
          <a:xfrm>
            <a:off x="8098797" y="1028343"/>
            <a:ext cx="361827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dirty="0"/>
              <a:t>Final decision lies with Karandeep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dirty="0"/>
              <a:t>Other teams can have review status instead of reaching out and consuming theirs and Karandeep time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dirty="0"/>
              <a:t>No stress of remembering things</a:t>
            </a:r>
          </a:p>
          <a:p>
            <a:pPr algn="just"/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dirty="0"/>
              <a:t>74% savings over existing cost incurred in losing Karandeep manhours &amp; losses incurred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dirty="0"/>
              <a:t>More contracts means more business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dirty="0"/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dirty="0"/>
              <a:t>RAG based solution so data stay within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55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50" autoRev="1" fill="remov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80" y="365760"/>
            <a:ext cx="60960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133" dirty="0">
                <a:solidFill>
                  <a:schemeClr val="accent1"/>
                </a:solidFill>
              </a:rPr>
              <a:t>LAUNCH PLAN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87680" y="633984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2"/>
                </a:solidFill>
              </a:rPr>
              <a:t>Launch in four phases, each one earned by passing three checks</a:t>
            </a:r>
            <a:endParaRPr lang="en-US" sz="2933" dirty="0"/>
          </a:p>
        </p:txBody>
      </p:sp>
      <p:sp>
        <p:nvSpPr>
          <p:cNvPr id="4" name="Phase 0 card"/>
          <p:cNvSpPr/>
          <p:nvPr/>
        </p:nvSpPr>
        <p:spPr>
          <a:xfrm>
            <a:off x="487680" y="1524000"/>
            <a:ext cx="2621280" cy="3474720"/>
          </a:xfrm>
          <a:prstGeom prst="roundRect">
            <a:avLst>
              <a:gd name="adj" fmla="val 37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560" y="170688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0560" y="1706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</a:rPr>
              <a:t>0</a:t>
            </a:r>
            <a:endParaRPr lang="en-US" sz="1867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0688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bg1"/>
                </a:solidFill>
              </a:rPr>
              <a:t>Pilot</a:t>
            </a:r>
            <a:endParaRPr lang="en-US" sz="1867" dirty="0"/>
          </a:p>
        </p:txBody>
      </p:sp>
      <p:sp>
        <p:nvSpPr>
          <p:cNvPr id="8" name="Text 6"/>
          <p:cNvSpPr txBox="1"/>
          <p:nvPr/>
        </p:nvSpPr>
        <p:spPr>
          <a:xfrm>
            <a:off x="670560" y="2316480"/>
            <a:ext cx="22555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4"/>
                </a:solidFill>
              </a:rPr>
              <a:t>Weeks 1–4</a:t>
            </a:r>
            <a:endParaRPr lang="en-US" sz="1200" dirty="0"/>
          </a:p>
          <a:p>
            <a:r>
              <a:rPr lang="en-US" sz="1200" dirty="0">
                <a:solidFill>
                  <a:schemeClr val="accent4"/>
                </a:solidFill>
              </a:rPr>
              <a:t>16 Nov – 11 Dec 2026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865120"/>
            <a:ext cx="22555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b="1" dirty="0">
                <a:solidFill>
                  <a:schemeClr val="bg1"/>
                </a:solidFill>
              </a:rPr>
              <a:t>Karandeep + Dhaval</a:t>
            </a:r>
            <a:endParaRPr lang="en-US" sz="1267" dirty="0"/>
          </a:p>
          <a:p>
            <a:r>
              <a:rPr lang="en-US" sz="1267" dirty="0">
                <a:solidFill>
                  <a:schemeClr val="bg1"/>
                </a:solidFill>
              </a:rPr>
              <a:t>Run on live deals next to today's manual review. Vercel free tier; real contracts only on the no-training model.</a:t>
            </a:r>
            <a:endParaRPr lang="en-US" sz="1267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4267200"/>
            <a:ext cx="225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b="1" dirty="0">
                <a:solidFill>
                  <a:schemeClr val="accent1"/>
                </a:solidFill>
              </a:rPr>
              <a:t>Gate: </a:t>
            </a:r>
            <a:r>
              <a:rPr lang="en-US" sz="1267" dirty="0">
                <a:solidFill>
                  <a:schemeClr val="bg1"/>
                </a:solidFill>
              </a:rPr>
              <a:t>Matches Karandeep on every red flag</a:t>
            </a:r>
            <a:endParaRPr lang="en-US" sz="1267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01752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2" name="Phase 1 card"/>
          <p:cNvSpPr/>
          <p:nvPr/>
        </p:nvSpPr>
        <p:spPr>
          <a:xfrm>
            <a:off x="3352800" y="1524000"/>
            <a:ext cx="2621280" cy="3474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5680" y="170688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35680" y="1706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</a:rPr>
              <a:t>1</a:t>
            </a:r>
            <a:endParaRPr lang="en-US" sz="1867" dirty="0"/>
          </a:p>
        </p:txBody>
      </p:sp>
      <p:sp>
        <p:nvSpPr>
          <p:cNvPr id="15" name="Text 13"/>
          <p:cNvSpPr txBox="1"/>
          <p:nvPr/>
        </p:nvSpPr>
        <p:spPr>
          <a:xfrm>
            <a:off x="4145280" y="170688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tx2"/>
                </a:solidFill>
              </a:rPr>
              <a:t>Sales team</a:t>
            </a:r>
            <a:endParaRPr lang="en-US" sz="1867" dirty="0"/>
          </a:p>
        </p:txBody>
      </p:sp>
      <p:sp>
        <p:nvSpPr>
          <p:cNvPr id="16" name="Text 14"/>
          <p:cNvSpPr txBox="1"/>
          <p:nvPr/>
        </p:nvSpPr>
        <p:spPr>
          <a:xfrm>
            <a:off x="3535680" y="2316480"/>
            <a:ext cx="22555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3"/>
                </a:solidFill>
              </a:rPr>
              <a:t>Months 2–3</a:t>
            </a:r>
            <a:endParaRPr lang="en-US" sz="1200" dirty="0"/>
          </a:p>
          <a:p>
            <a:r>
              <a:rPr lang="en-US" sz="1200" dirty="0">
                <a:solidFill>
                  <a:schemeClr val="accent3"/>
                </a:solidFill>
              </a:rPr>
              <a:t>Jan – Feb 2027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535680" y="2865120"/>
            <a:ext cx="22555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b="1" dirty="0">
                <a:solidFill>
                  <a:schemeClr val="tx2"/>
                </a:solidFill>
              </a:rPr>
              <a:t>Bhavin, Dhaval, Jay</a:t>
            </a:r>
            <a:endParaRPr lang="en-US" sz="1267" dirty="0"/>
          </a:p>
          <a:p>
            <a:r>
              <a:rPr lang="en-US" sz="1267" dirty="0">
                <a:solidFill>
                  <a:schemeClr val="tx2"/>
                </a:solidFill>
              </a:rPr>
              <a:t>Every new contract goes through the review queue and outcome brief. Karandeep reads red-flag deals in depth.</a:t>
            </a:r>
            <a:endParaRPr lang="en-US" sz="1267" dirty="0"/>
          </a:p>
        </p:txBody>
      </p:sp>
      <p:sp>
        <p:nvSpPr>
          <p:cNvPr id="18" name="Text 16"/>
          <p:cNvSpPr txBox="1"/>
          <p:nvPr/>
        </p:nvSpPr>
        <p:spPr>
          <a:xfrm>
            <a:off x="3535680" y="4267200"/>
            <a:ext cx="225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b="1" dirty="0">
                <a:solidFill>
                  <a:schemeClr val="accent1"/>
                </a:solidFill>
              </a:rPr>
              <a:t>Gate: </a:t>
            </a:r>
            <a:r>
              <a:rPr lang="en-US" sz="1267" dirty="0">
                <a:solidFill>
                  <a:schemeClr val="tx2"/>
                </a:solidFill>
              </a:rPr>
              <a:t>Review under 15 min, queue under 24 h</a:t>
            </a:r>
            <a:endParaRPr lang="en-US" sz="1267" dirty="0"/>
          </a:p>
        </p:txBody>
      </p:sp>
      <p:sp>
        <p:nvSpPr>
          <p:cNvPr id="19" name="Text 17"/>
          <p:cNvSpPr txBox="1"/>
          <p:nvPr/>
        </p:nvSpPr>
        <p:spPr>
          <a:xfrm>
            <a:off x="5974080" y="301752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20" name="Phase 2 card"/>
          <p:cNvSpPr/>
          <p:nvPr/>
        </p:nvSpPr>
        <p:spPr>
          <a:xfrm>
            <a:off x="6217920" y="1524000"/>
            <a:ext cx="2621280" cy="3474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170688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1706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</a:rPr>
              <a:t>2</a:t>
            </a:r>
            <a:endParaRPr lang="en-US" sz="1867" dirty="0"/>
          </a:p>
        </p:txBody>
      </p:sp>
      <p:sp>
        <p:nvSpPr>
          <p:cNvPr id="23" name="Text 21"/>
          <p:cNvSpPr txBox="1"/>
          <p:nvPr/>
        </p:nvSpPr>
        <p:spPr>
          <a:xfrm>
            <a:off x="7010400" y="170688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tx2"/>
                </a:solidFill>
              </a:rPr>
              <a:t>Full portfolio</a:t>
            </a:r>
            <a:endParaRPr lang="en-US" sz="1867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2316480"/>
            <a:ext cx="22555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3"/>
                </a:solidFill>
              </a:rPr>
              <a:t>Months 4–6</a:t>
            </a:r>
            <a:endParaRPr lang="en-US" sz="1200" dirty="0"/>
          </a:p>
          <a:p>
            <a:r>
              <a:rPr lang="en-US" sz="1200" dirty="0">
                <a:solidFill>
                  <a:schemeClr val="accent3"/>
                </a:solidFill>
              </a:rPr>
              <a:t>Mar – May 2027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865120"/>
            <a:ext cx="22555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b="1" dirty="0">
                <a:solidFill>
                  <a:schemeClr val="tx2"/>
                </a:solidFill>
              </a:rPr>
              <a:t>Karandeep, Jay</a:t>
            </a:r>
            <a:endParaRPr lang="en-US" sz="1267" dirty="0"/>
          </a:p>
          <a:p>
            <a:r>
              <a:rPr lang="en-US" sz="1267" dirty="0">
                <a:solidFill>
                  <a:schemeClr val="tx2"/>
                </a:solidFill>
              </a:rPr>
              <a:t>Load all signed contracts, confirm each register entry, turn on obligation register and renewal alerts.</a:t>
            </a:r>
            <a:endParaRPr lang="en-US" sz="1267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4267200"/>
            <a:ext cx="225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b="1" dirty="0">
                <a:solidFill>
                  <a:schemeClr val="accent1"/>
                </a:solidFill>
              </a:rPr>
              <a:t>Gate: </a:t>
            </a:r>
            <a:r>
              <a:rPr lang="en-US" sz="1267" dirty="0">
                <a:solidFill>
                  <a:schemeClr val="tx2"/>
                </a:solidFill>
              </a:rPr>
              <a:t>Every signed contract in the register</a:t>
            </a:r>
            <a:endParaRPr lang="en-US" sz="1267" dirty="0"/>
          </a:p>
        </p:txBody>
      </p:sp>
      <p:sp>
        <p:nvSpPr>
          <p:cNvPr id="27" name="Text 25"/>
          <p:cNvSpPr txBox="1"/>
          <p:nvPr/>
        </p:nvSpPr>
        <p:spPr>
          <a:xfrm>
            <a:off x="8839200" y="3017520"/>
            <a:ext cx="243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28" name="Phase 3 card"/>
          <p:cNvSpPr/>
          <p:nvPr/>
        </p:nvSpPr>
        <p:spPr>
          <a:xfrm>
            <a:off x="9083040" y="1524000"/>
            <a:ext cx="2621280" cy="347472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265920" y="170688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65920" y="1706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chemeClr val="bg1"/>
                </a:solidFill>
              </a:rPr>
              <a:t>3</a:t>
            </a:r>
            <a:endParaRPr lang="en-US" sz="1867" dirty="0"/>
          </a:p>
        </p:txBody>
      </p:sp>
      <p:sp>
        <p:nvSpPr>
          <p:cNvPr id="31" name="Text 29"/>
          <p:cNvSpPr txBox="1"/>
          <p:nvPr/>
        </p:nvSpPr>
        <p:spPr>
          <a:xfrm>
            <a:off x="9875520" y="1706880"/>
            <a:ext cx="170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tx2"/>
                </a:solidFill>
              </a:rPr>
              <a:t>Scale</a:t>
            </a:r>
            <a:endParaRPr lang="en-US" sz="1867" dirty="0"/>
          </a:p>
        </p:txBody>
      </p:sp>
      <p:sp>
        <p:nvSpPr>
          <p:cNvPr id="32" name="Text 30"/>
          <p:cNvSpPr txBox="1"/>
          <p:nvPr/>
        </p:nvSpPr>
        <p:spPr>
          <a:xfrm>
            <a:off x="9265920" y="2316480"/>
            <a:ext cx="22555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chemeClr val="accent3"/>
                </a:solidFill>
              </a:rPr>
              <a:t>Month 6+</a:t>
            </a:r>
            <a:endParaRPr lang="en-US" sz="1200" dirty="0"/>
          </a:p>
          <a:p>
            <a:r>
              <a:rPr lang="en-US" sz="1200" dirty="0">
                <a:solidFill>
                  <a:schemeClr val="accent3"/>
                </a:solidFill>
              </a:rPr>
              <a:t>Jun 2027 onward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265920" y="2865120"/>
            <a:ext cx="225552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b="1" dirty="0">
                <a:solidFill>
                  <a:schemeClr val="tx2"/>
                </a:solidFill>
              </a:rPr>
              <a:t>Founders</a:t>
            </a:r>
            <a:endParaRPr lang="en-US" sz="1267" dirty="0"/>
          </a:p>
          <a:p>
            <a:r>
              <a:rPr lang="en-US" sz="1267" dirty="0">
                <a:solidFill>
                  <a:schemeClr val="tx2"/>
                </a:solidFill>
              </a:rPr>
              <a:t>Connect email or CRM intake, add other contract types, report savings to the CEO every quarter.</a:t>
            </a:r>
            <a:endParaRPr lang="en-US" sz="1267" dirty="0"/>
          </a:p>
        </p:txBody>
      </p:sp>
      <p:sp>
        <p:nvSpPr>
          <p:cNvPr id="34" name="Text 32"/>
          <p:cNvSpPr txBox="1"/>
          <p:nvPr/>
        </p:nvSpPr>
        <p:spPr>
          <a:xfrm>
            <a:off x="9265920" y="4267200"/>
            <a:ext cx="225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67" b="1" dirty="0">
                <a:solidFill>
                  <a:schemeClr val="accent1"/>
                </a:solidFill>
              </a:rPr>
              <a:t>Gate: </a:t>
            </a:r>
            <a:r>
              <a:rPr lang="en-US" sz="1267" dirty="0">
                <a:solidFill>
                  <a:schemeClr val="tx2"/>
                </a:solidFill>
              </a:rPr>
              <a:t>Savings report each quarter</a:t>
            </a:r>
            <a:endParaRPr lang="en-US" sz="1267" dirty="0"/>
          </a:p>
        </p:txBody>
      </p:sp>
      <p:sp>
        <p:nvSpPr>
          <p:cNvPr id="35" name="Text 33"/>
          <p:cNvSpPr txBox="1"/>
          <p:nvPr/>
        </p:nvSpPr>
        <p:spPr>
          <a:xfrm>
            <a:off x="487680" y="5181600"/>
            <a:ext cx="11216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tx2"/>
                </a:solidFill>
              </a:rPr>
              <a:t>Every phase must pass before the next starts:  </a:t>
            </a:r>
            <a:r>
              <a:rPr lang="en-US" sz="1333" dirty="0"/>
              <a:t>no missed red flags  ·  review time under 15 minutes  ·  sellers actually using it.  </a:t>
            </a:r>
            <a:r>
              <a:rPr lang="en-US" sz="1333" b="1" dirty="0">
                <a:solidFill>
                  <a:schemeClr val="accent1"/>
                </a:solidFill>
              </a:rPr>
              <a:t>Karandeep signs off every contract; ContractLens never signs or sends.</a:t>
            </a:r>
            <a:endParaRPr lang="en-US" sz="1333" dirty="0"/>
          </a:p>
        </p:txBody>
      </p:sp>
      <p:sp>
        <p:nvSpPr>
          <p:cNvPr id="36" name="Text 34"/>
          <p:cNvSpPr txBox="1"/>
          <p:nvPr/>
        </p:nvSpPr>
        <p:spPr>
          <a:xfrm>
            <a:off x="487680" y="5730240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accent1"/>
                </a:solidFill>
              </a:rPr>
              <a:t>~$33  </a:t>
            </a:r>
            <a:r>
              <a:rPr lang="en-US" sz="1200" dirty="0">
                <a:solidFill>
                  <a:schemeClr val="accent3"/>
                </a:solidFill>
              </a:rPr>
              <a:t>per month in production</a:t>
            </a:r>
            <a:endParaRPr lang="en-US" sz="1867" dirty="0"/>
          </a:p>
        </p:txBody>
      </p:sp>
      <p:sp>
        <p:nvSpPr>
          <p:cNvPr id="37" name="Text 35"/>
          <p:cNvSpPr txBox="1"/>
          <p:nvPr/>
        </p:nvSpPr>
        <p:spPr>
          <a:xfrm>
            <a:off x="3352800" y="5730240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accent1"/>
                </a:solidFill>
              </a:rPr>
              <a:t>&lt; 1 month  </a:t>
            </a:r>
            <a:r>
              <a:rPr lang="en-US" sz="1200" dirty="0">
                <a:solidFill>
                  <a:schemeClr val="accent3"/>
                </a:solidFill>
              </a:rPr>
              <a:t>payback (0.7 months)</a:t>
            </a:r>
            <a:endParaRPr lang="en-US" sz="1867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5730240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accent1"/>
                </a:solidFill>
              </a:rPr>
              <a:t>57 / 57  </a:t>
            </a:r>
            <a:r>
              <a:rPr lang="en-US" sz="1200" dirty="0">
                <a:solidFill>
                  <a:schemeClr val="accent3"/>
                </a:solidFill>
              </a:rPr>
              <a:t>offline tests passing</a:t>
            </a:r>
            <a:endParaRPr lang="en-US" sz="1867" dirty="0"/>
          </a:p>
        </p:txBody>
      </p:sp>
      <p:sp>
        <p:nvSpPr>
          <p:cNvPr id="39" name="Text 37"/>
          <p:cNvSpPr txBox="1"/>
          <p:nvPr/>
        </p:nvSpPr>
        <p:spPr>
          <a:xfrm>
            <a:off x="9083040" y="5730240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accent1"/>
                </a:solidFill>
              </a:rPr>
              <a:t>Vercel  </a:t>
            </a:r>
            <a:r>
              <a:rPr lang="en-US" sz="1200" dirty="0">
                <a:solidFill>
                  <a:schemeClr val="accent3"/>
                </a:solidFill>
              </a:rPr>
              <a:t>free tier for the pilot</a:t>
            </a:r>
            <a:endParaRPr lang="en-US" sz="1867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16640" y="6400800"/>
            <a:ext cx="48768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67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24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24B3B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899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C"/>
                </a:solidFill>
                <a:latin typeface="Calibri"/>
              </a:rPr>
              <a:t>What I need from the founders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Atliq ContractLens  ·  Capstone 2  ·  Rupali Badkar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377440" cy="914400"/>
          </a:xfrm>
          <a:prstGeom prst="rect">
            <a:avLst/>
          </a:prstGeom>
          <a:solidFill>
            <a:srgbClr val="14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23774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Karandeep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54480"/>
            <a:ext cx="81381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Two hours to turn the 2024 checklist into the playbook, and an answer key for the 15 drafts so we can measure flag precision.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2377440" cy="914400"/>
          </a:xfrm>
          <a:prstGeom prst="rect">
            <a:avLst/>
          </a:prstGeom>
          <a:solidFill>
            <a:srgbClr val="14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3774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Jay and Dhaval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51760"/>
            <a:ext cx="81381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Collect the 13 signed contracts the tracker lists but nobody can find (DataNest, ShopSwift, CareBridge MSA…). Until then they're shown as "could not check".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2377440" cy="914400"/>
          </a:xfrm>
          <a:prstGeom prst="rect">
            <a:avLst/>
          </a:prstGeom>
          <a:solidFill>
            <a:srgbClr val="14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23774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Pranav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932318"/>
            <a:ext cx="813816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1F2937"/>
                </a:solidFill>
                <a:latin typeface="Calibri"/>
              </a:rPr>
              <a:t>Pick the </a:t>
            </a:r>
            <a:r>
              <a:rPr lang="en-US" sz="1600" dirty="0">
                <a:solidFill>
                  <a:srgbClr val="1F2937"/>
                </a:solidFill>
                <a:latin typeface="Calibri"/>
              </a:rPr>
              <a:t>production 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model API for real contracts (no training, no retention) with </a:t>
            </a:r>
            <a:r>
              <a:rPr lang="en-US" sz="1600" dirty="0">
                <a:solidFill>
                  <a:srgbClr val="1F2937"/>
                </a:solidFill>
                <a:latin typeface="Calibri"/>
              </a:rPr>
              <a:t>reference to the cost estimate given</a:t>
            </a:r>
            <a:endParaRPr sz="16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2377440" cy="914400"/>
          </a:xfrm>
          <a:prstGeom prst="rect">
            <a:avLst/>
          </a:prstGeom>
          <a:solidFill>
            <a:srgbClr val="14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237744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Everyone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5152709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 dirty="0">
                <a:solidFill>
                  <a:srgbClr val="1F2937"/>
                </a:solidFill>
                <a:latin typeface="Calibri"/>
              </a:rPr>
              <a:t>Agree to start </a:t>
            </a:r>
            <a:r>
              <a:rPr lang="en-US" sz="1600" dirty="0">
                <a:solidFill>
                  <a:srgbClr val="1F2937"/>
                </a:solidFill>
                <a:latin typeface="Calibri"/>
              </a:rPr>
              <a:t>Pilot</a:t>
            </a:r>
            <a:r>
              <a:rPr sz="1600" b="0" i="0" dirty="0">
                <a:solidFill>
                  <a:srgbClr val="1F2937"/>
                </a:solidFill>
                <a:latin typeface="Calibri"/>
              </a:rPr>
              <a:t> mode on the live queue in mid-November.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ownload Sunshine through clouds Image - Sunshine, Clouds, Sky | StockCake">
            <a:extLst>
              <a:ext uri="{FF2B5EF4-FFF2-40B4-BE49-F238E27FC236}">
                <a16:creationId xmlns:a16="http://schemas.microsoft.com/office/drawing/2014/main" id="{4A4B1264-0F08-5FFE-8F9D-163153F4B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55756"/>
            <a:ext cx="12192000" cy="69137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3670E0-A728-2DC6-A61F-50391DDE7C32}"/>
              </a:ext>
            </a:extLst>
          </p:cNvPr>
          <p:cNvSpPr txBox="1"/>
          <p:nvPr/>
        </p:nvSpPr>
        <p:spPr>
          <a:xfrm>
            <a:off x="176981" y="707002"/>
            <a:ext cx="1201501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/>
              <a:t>Thank you</a:t>
            </a:r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endParaRPr lang="en-US" sz="4000" dirty="0"/>
          </a:p>
          <a:p>
            <a:pPr algn="ctr"/>
            <a:r>
              <a:rPr lang="en-US" sz="4000" dirty="0"/>
              <a:t>For any queries reach out to </a:t>
            </a:r>
          </a:p>
          <a:p>
            <a:pPr algn="ctr"/>
            <a:r>
              <a:rPr lang="en-US" sz="4000" dirty="0"/>
              <a:t>Rupali Badkar</a:t>
            </a:r>
          </a:p>
          <a:p>
            <a:pPr algn="ctr"/>
            <a:r>
              <a:rPr lang="en-US" sz="4000" dirty="0"/>
              <a:t>Rupalibadkar24@gmail.com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707057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ABFE3C-BF16-E373-000E-577F97E21210}"/>
              </a:ext>
            </a:extLst>
          </p:cNvPr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E330A-F1F9-7FBA-E9DD-14F5C4E30F95}"/>
              </a:ext>
            </a:extLst>
          </p:cNvPr>
          <p:cNvSpPr txBox="1"/>
          <p:nvPr/>
        </p:nvSpPr>
        <p:spPr>
          <a:xfrm>
            <a:off x="1179871" y="1917290"/>
            <a:ext cx="10599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Technical Information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524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24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24B3B"/>
                </a:solidFill>
                <a:latin typeface="Calibri"/>
              </a:rPr>
              <a:t>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899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C"/>
                </a:solidFill>
                <a:latin typeface="Calibri"/>
              </a:rPr>
              <a:t>How we'll know it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Atliq ContractLens  ·  Capstone 2  ·  Rupali Badkar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698480" cy="3840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79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3152" marR="73152" marT="36576" marB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73152" marT="36576" marB="36576"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North Star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Signed contracts with zero conflicting commitments or unresolved high issues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100% of signed contracts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Time to a reviewed brief · contracts a month · queue wait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3–4 hrs → 5 min · 9 → 15 · ≤ 2 working days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High and blocker flags Karandeep accepts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≥ 70%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Missed high-severity issues found later · unsupported citations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Zero · zero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4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Experience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Counsel spend per month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Down 50%: counsel only for flagged contracts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24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24B3B"/>
                </a:solidFill>
                <a:latin typeface="Calibr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899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C"/>
                </a:solidFill>
                <a:latin typeface="Calibri"/>
              </a:rPr>
              <a:t>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Atliq ContractLens  ·  Capstone 2  ·  Rupali Badkar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257800" cy="10241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33C"/>
                </a:solidFill>
                <a:latin typeface="Calibri"/>
              </a:rPr>
              <a:t>Personal-data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463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1F2937"/>
                </a:solidFill>
                <a:latin typeface="Calibri"/>
              </a:rPr>
              <a:t>SSNs, MRNs, dates of birth, diagnosis codes stop the review before any model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5257800" cy="10241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IN" sz="1600" b="1" i="0" dirty="0">
                <a:solidFill>
                  <a:srgbClr val="14233C"/>
                </a:solidFill>
                <a:latin typeface="Calibri"/>
              </a:rPr>
              <a:t>No approve / sign / send</a:t>
            </a:r>
            <a:endParaRPr sz="1600" b="1" i="0" dirty="0">
              <a:solidFill>
                <a:srgbClr val="14233C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4846320" cy="2554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1300" b="0" i="0" dirty="0">
                <a:solidFill>
                  <a:srgbClr val="1F2937"/>
                </a:solidFill>
                <a:latin typeface="Calibri"/>
              </a:rPr>
              <a:t>Human is the final approval</a:t>
            </a:r>
            <a:endParaRPr sz="1300" b="0" i="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2679191"/>
            <a:ext cx="5257800" cy="10241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679191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770631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33C"/>
                </a:solidFill>
                <a:latin typeface="Calibri"/>
              </a:rPr>
              <a:t>Citation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36391"/>
            <a:ext cx="48463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 model finding whose quote is not in the contract is dropped and counted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679191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2669755"/>
            <a:ext cx="5149443" cy="10241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61023" y="2770631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14233C"/>
                </a:solidFill>
                <a:latin typeface="Calibri"/>
              </a:rPr>
              <a:t>Completion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6786" y="3122676"/>
            <a:ext cx="48463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dirty="0">
                <a:solidFill>
                  <a:srgbClr val="1F2937"/>
                </a:solidFill>
                <a:latin typeface="Calibri"/>
              </a:rPr>
              <a:t>"Review complete" stays locked until every blocker and high flag has a decision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840186"/>
            <a:ext cx="5257800" cy="10241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520" y="3840186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3931626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 dirty="0">
                <a:solidFill>
                  <a:srgbClr val="14233C"/>
                </a:solidFill>
                <a:latin typeface="Calibri"/>
              </a:rPr>
              <a:t>Honest failure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297386"/>
            <a:ext cx="48463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If the model call fails, it says "review not completed", never "checked"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55283" y="3840186"/>
            <a:ext cx="5257800" cy="1024128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72200" y="3840186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931626"/>
            <a:ext cx="48463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4233C"/>
                </a:solidFill>
                <a:latin typeface="Calibri"/>
              </a:rPr>
              <a:t>Audit log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297386"/>
            <a:ext cx="484632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Each step and decision with IDs and counts only, no contract 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64008" cy="6858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453C"/>
                </a:solidFill>
                <a:latin typeface="Calibri"/>
              </a:rPr>
              <a:t>DEMO · TAB 1 OF 6 · REVIEW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203A"/>
                </a:solidFill>
                <a:latin typeface="Calibri"/>
              </a:rPr>
              <a:t>Gulf Crown is in the queue, flagged as urgent</a:t>
            </a:r>
          </a:p>
        </p:txBody>
      </p:sp>
      <p:pic>
        <p:nvPicPr>
          <p:cNvPr id="5" name="Picture 4" descr="c_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412480" cy="473202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098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53C"/>
                </a:solidFill>
                <a:latin typeface="Calibri"/>
              </a:rPr>
              <a:t>Gulf Crown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Gulf Crown Hotels &amp; Resorts MSA, $140,000, requested by Bhavin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Due 10 Oct, 12 days left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Sorted by deadline from the contract tracker, so Karandeep sees what is urgent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Atliq ContractLens  ·  Capstone 2  ·  Rupali Badkar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64008" cy="6858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453C"/>
                </a:solidFill>
                <a:latin typeface="Calibri"/>
              </a:rPr>
              <a:t>DEMO · TAB 2 OF 6 · REVIEW 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203A"/>
                </a:solidFill>
                <a:latin typeface="Calibri"/>
              </a:rPr>
              <a:t>One blocker: the draft collides with Al Noor</a:t>
            </a:r>
          </a:p>
        </p:txBody>
      </p:sp>
      <p:pic>
        <p:nvPicPr>
          <p:cNvPr id="5" name="Picture 4" descr="c_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412480" cy="473202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098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53C"/>
                </a:solidFill>
                <a:latin typeface="Calibri"/>
              </a:rPr>
              <a:t>Gulf Crown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Verdict: “Do not sign as drafted”, 1 blocker and 1 medium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Al Noor's 2025 MSA quoted word for word: no analytics or AI work for any hospitality business in the GCC until 2029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Karandeep sends it to counsel, then the outcome brief is drafted for email or WhatsApp without naming Al Noor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Atliq ContractLens  ·  Capstone 2  ·  Rupali Badkar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64008" cy="6858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453C"/>
                </a:solidFill>
                <a:latin typeface="Calibri"/>
              </a:rPr>
              <a:t>DEMO · TAB 3 OF 6 · OBLIGATIONS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203A"/>
                </a:solidFill>
                <a:latin typeface="Calibri"/>
              </a:rPr>
              <a:t>Why it was caught: what AtliQ already promised Al Noor</a:t>
            </a:r>
          </a:p>
        </p:txBody>
      </p:sp>
      <p:pic>
        <p:nvPicPr>
          <p:cNvPr id="5" name="Picture 4" descr="c_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412480" cy="473202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098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53C"/>
                </a:solidFill>
                <a:latin typeface="Calibri"/>
              </a:rPr>
              <a:t>Gulf Crown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R-01: Al Noor non-compete, active until 14 Sep 2029, binds both AtliQ entities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R-02: the waiver covers only the Seaside Hotels (Muscat) SOW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Every quote is checked word for word against the signed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Atliq ContractLens  ·  Capstone 2  ·  Rupali Badkar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64008" cy="6858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453C"/>
                </a:solidFill>
                <a:latin typeface="Calibri"/>
              </a:rPr>
              <a:t>DEMO · TAB 4 OF 6 · ASK THE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203A"/>
                </a:solidFill>
                <a:latin typeface="Calibri"/>
              </a:rPr>
              <a:t>Karandeep can ask about Al Noor in plain English</a:t>
            </a:r>
          </a:p>
        </p:txBody>
      </p:sp>
      <p:pic>
        <p:nvPicPr>
          <p:cNvPr id="5" name="Picture 4" descr="c_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412480" cy="473202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098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53C"/>
                </a:solidFill>
                <a:latin typeface="Calibri"/>
              </a:rPr>
              <a:t>Gulf Crown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Question: “What have we promised Al Noor, and does it affect the Gulf Crown deal?”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The answer comes only from the signed contracts, with numbered sources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It will not sign, approve, send or give legal opinions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Atliq ContractLens  ·  Capstone 2  ·  Rupali Badkar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64008" cy="6858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453C"/>
                </a:solidFill>
                <a:latin typeface="Calibri"/>
              </a:rPr>
              <a:t>DEMO · TAB 5 OF 6 · SIGNED PORTFOLIO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203A"/>
                </a:solidFill>
                <a:latin typeface="Calibri"/>
              </a:rPr>
              <a:t>The Al Noor contracts themselves are checked too</a:t>
            </a:r>
          </a:p>
        </p:txBody>
      </p:sp>
      <p:pic>
        <p:nvPicPr>
          <p:cNvPr id="5" name="Picture 4" descr="c_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412480" cy="473202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098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53C"/>
                </a:solidFill>
                <a:latin typeface="Calibri"/>
              </a:rPr>
              <a:t>Gulf Crown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Al Noor MSA and waiver letter are both under Dubai (DIFC) law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Flagged medium: AtliQ Technologies Pvt Ltd sits under non-Indian law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The same rules run on everything already signed, not just new drafts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Atliq ContractLens  ·  Capstone 2  ·  Rupali Badkar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84048"/>
            <a:ext cx="64008" cy="685800"/>
          </a:xfrm>
          <a:prstGeom prst="rect">
            <a:avLst/>
          </a:prstGeom>
          <a:solidFill>
            <a:srgbClr val="E84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453C"/>
                </a:solidFill>
                <a:latin typeface="Calibri"/>
              </a:rPr>
              <a:t>DEMO · TAB 6 OF 6 · AUDIT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3203A"/>
                </a:solidFill>
                <a:latin typeface="Calibri"/>
              </a:rPr>
              <a:t>Every step of the Gulf Crown review is recorded</a:t>
            </a:r>
          </a:p>
        </p:txBody>
      </p:sp>
      <p:pic>
        <p:nvPicPr>
          <p:cNvPr id="5" name="Picture 4" descr="c_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8412480" cy="473202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90982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453C"/>
                </a:solidFill>
                <a:latin typeface="Calibri"/>
              </a:rPr>
              <a:t>Gulf Crown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Upload → rules → retrieve → citation check → brief → decision → outcome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IDs and counts only, no contract text is logged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13203A"/>
                </a:solidFill>
                <a:latin typeface="Calibri"/>
              </a:rPr>
              <a:t>• Shows that Karandeep, not the tool, made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F6D"/>
                </a:solidFill>
                <a:latin typeface="Calibri"/>
              </a:rPr>
              <a:t>Atliq ContractLens  ·  Capstone 2  ·  Rupali Badkar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E24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058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E24B3B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"/>
            <a:ext cx="1078992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4233C"/>
                </a:solidFill>
                <a:latin typeface="Calibri"/>
              </a:rPr>
              <a:t>Eval results: 56 of 56 offline checks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Atliq ContractLens  ·  Capstone 2  ·  Rupali Badkar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69848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Eval dimension</a:t>
                      </a:r>
                    </a:p>
                  </a:txBody>
                  <a:tcPr marL="73152" marR="73152" marT="36576" marB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73152" marT="36576" marB="36576"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Prototype result</a:t>
                      </a:r>
                    </a:p>
                  </a:txBody>
                  <a:tcPr marL="73152" marR="73152" marT="36576" marB="36576">
                    <a:solidFill>
                      <a:srgbClr val="1423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Conflict recall (register)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5803D"/>
                          </a:solidFill>
                          <a:latin typeface="Calibri"/>
                        </a:rPr>
                        <a:t>6 / 6 known conflicts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Entity, law and deal bundle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5803D"/>
                          </a:solidFill>
                          <a:latin typeface="Calibri"/>
                        </a:rPr>
                        <a:t>TravelHub, Marcus Reed, Brightwater, Harrington, Kriti: all correct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False alarm control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No blocker on clean drafts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5803D"/>
                          </a:solidFill>
                          <a:latin typeface="Calibri"/>
                        </a:rPr>
                        <a:t>Sunrise SOW-2 and LoopMart: no blocker or high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Citation faithfulness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5803D"/>
                          </a:solidFill>
                          <a:latin typeface="Calibri"/>
                        </a:rPr>
                        <a:t>Invented quote dropped in test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Safe refusal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5803D"/>
                          </a:solidFill>
                          <a:latin typeface="Calibri"/>
                        </a:rPr>
                        <a:t>5 / 5 refusals, 3 / 3 normal questions answered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High-severity recall (AI clause scan)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≥ 95%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B45309"/>
                          </a:solidFill>
                          <a:latin typeface="Calibri"/>
                        </a:rPr>
                        <a:t>Pending live model run</a:t>
                      </a:r>
                    </a:p>
                  </a:txBody>
                  <a:tcPr marL="73152" marR="73152" marT="36576" marB="36576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Flag precision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≥ 80%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B45309"/>
                          </a:solidFill>
                          <a:latin typeface="Calibri"/>
                        </a:rPr>
                        <a:t>Needs Karandeep's answer key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778"/>
                </a:solidFill>
                <a:latin typeface="Calibri"/>
              </a:rPr>
              <a:t>Run with python test_contractlens.py (offline, uses a fake model for the AI steps); --live adds the Groq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1631</TotalTime>
  <Words>2447</Words>
  <Application>Microsoft Office PowerPoint</Application>
  <PresentationFormat>Widescreen</PresentationFormat>
  <Paragraphs>418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Rupali Badkar</dc:creator>
  <cp:keywords/>
  <dc:description>generated using python-pptx</dc:description>
  <cp:lastModifiedBy>Rupali Khade Badkar</cp:lastModifiedBy>
  <cp:revision>44</cp:revision>
  <dcterms:created xsi:type="dcterms:W3CDTF">2013-01-27T09:14:16Z</dcterms:created>
  <dcterms:modified xsi:type="dcterms:W3CDTF">2026-10-13T10:31:59Z</dcterms:modified>
  <cp:category/>
</cp:coreProperties>
</file>